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8">
          <p15:clr>
            <a:srgbClr val="A4A3A4"/>
          </p15:clr>
        </p15:guide>
        <p15:guide id="2" orient="horz" pos="1706">
          <p15:clr>
            <a:srgbClr val="A4A3A4"/>
          </p15:clr>
        </p15:guide>
        <p15:guide id="3" orient="horz" pos="2840">
          <p15:clr>
            <a:srgbClr val="A4A3A4"/>
          </p15:clr>
        </p15:guide>
        <p15:guide id="4" orient="horz" pos="3884">
          <p15:clr>
            <a:srgbClr val="A4A3A4"/>
          </p15:clr>
        </p15:guide>
        <p15:guide id="5" pos="208">
          <p15:clr>
            <a:srgbClr val="A4A3A4"/>
          </p15:clr>
        </p15:guide>
        <p15:guide id="6" pos="2018">
          <p15:clr>
            <a:srgbClr val="A4A3A4"/>
          </p15:clr>
        </p15:guide>
        <p15:guide id="7" pos="5556">
          <p15:clr>
            <a:srgbClr val="A4A3A4"/>
          </p15:clr>
        </p15:guide>
        <p15:guide id="8" pos="37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4"/>
    <p:restoredTop sz="88173"/>
  </p:normalViewPr>
  <p:slideViewPr>
    <p:cSldViewPr>
      <p:cViewPr varScale="1">
        <p:scale>
          <a:sx n="107" d="100"/>
          <a:sy n="107" d="100"/>
        </p:scale>
        <p:origin x="1960" y="176"/>
      </p:cViewPr>
      <p:guideLst>
        <p:guide orient="horz" pos="578"/>
        <p:guide orient="horz" pos="1706"/>
        <p:guide orient="horz" pos="2840"/>
        <p:guide orient="horz" pos="3884"/>
        <p:guide pos="208"/>
        <p:guide pos="2018"/>
        <p:guide pos="5556"/>
        <p:guide pos="37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FF9F5-3653-9D44-8F82-DBEB0242E26D}" type="datetimeFigureOut">
              <a:rPr lang="en-CN" smtClean="0"/>
              <a:t>5/25/25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8857D-6C9B-724E-97A7-F10215BA7C0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263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CF is the most common life-limiting genetic disorder in the caucasi</a:t>
            </a:r>
            <a:r>
              <a:rPr lang="en-GB" dirty="0"/>
              <a:t>a</a:t>
            </a:r>
            <a:r>
              <a:rPr lang="en-CN" dirty="0"/>
              <a:t>n population. </a:t>
            </a:r>
          </a:p>
          <a:p>
            <a:r>
              <a:rPr lang="en-CN" dirty="0"/>
              <a:t>Molecular mechanism behind the CFTR channel opening and novel pharmacological approaches to the CF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467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CF gene was discovered in 1989</a:t>
            </a:r>
          </a:p>
          <a:p>
            <a:r>
              <a:rPr lang="en-CN" dirty="0"/>
              <a:t>	Encodes for the integral membrane protein--CFTR</a:t>
            </a:r>
          </a:p>
          <a:p>
            <a:endParaRPr lang="en-CN" dirty="0"/>
          </a:p>
          <a:p>
            <a:r>
              <a:rPr lang="en-CN" dirty="0"/>
              <a:t>CFTR (cystic fibrosis transmembrane </a:t>
            </a:r>
            <a:r>
              <a:rPr lang="en-GB" dirty="0"/>
              <a:t>con</a:t>
            </a:r>
            <a:r>
              <a:rPr lang="en-CN" dirty="0"/>
              <a:t>ductance regulator)</a:t>
            </a:r>
          </a:p>
          <a:p>
            <a:r>
              <a:rPr lang="en-CN" dirty="0"/>
              <a:t>	a member of the ATP-binding cassette transporter</a:t>
            </a:r>
          </a:p>
          <a:p>
            <a:r>
              <a:rPr lang="en-CN" dirty="0"/>
              <a:t>	only ion channel member of the ABC family</a:t>
            </a:r>
          </a:p>
          <a:p>
            <a:r>
              <a:rPr lang="en-CN" dirty="0"/>
              <a:t>	function</a:t>
            </a:r>
            <a:r>
              <a:rPr lang="en-GB" dirty="0"/>
              <a:t>s</a:t>
            </a:r>
            <a:r>
              <a:rPr lang="en-CN" dirty="0"/>
              <a:t> uniquely by providing an aqueous pathway allowing the flow of anions passively down </a:t>
            </a:r>
            <a:r>
              <a:rPr lang="en-GB" dirty="0"/>
              <a:t>the </a:t>
            </a:r>
            <a:r>
              <a:rPr lang="en-CN" dirty="0"/>
              <a:t>concentration gradient</a:t>
            </a:r>
          </a:p>
          <a:p>
            <a:r>
              <a:rPr lang="en-CN" dirty="0"/>
              <a:t>	anions transported are mainly chloride and bicarbonate ions. </a:t>
            </a:r>
          </a:p>
          <a:p>
            <a:r>
              <a:rPr lang="en-CN" dirty="0"/>
              <a:t>W</a:t>
            </a:r>
            <a:r>
              <a:rPr lang="en-GB" dirty="0"/>
              <a:t>h</a:t>
            </a:r>
            <a:r>
              <a:rPr lang="en-CN" dirty="0"/>
              <a:t>en defective: multisystem dysfunction due to abnormal mucus production</a:t>
            </a:r>
          </a:p>
          <a:p>
            <a:endParaRPr lang="en-CN" dirty="0"/>
          </a:p>
          <a:p>
            <a:r>
              <a:rPr lang="en-CN" dirty="0"/>
              <a:t>Molecular structure of CFTR</a:t>
            </a:r>
          </a:p>
          <a:p>
            <a:r>
              <a:rPr lang="en-CN" dirty="0"/>
              <a:t>	like other ABCs, it contains two TMDs (6 alpha helices) which spans the membrane and forms the channel, two NBDs which bind to ATPs and dimerizes to allow channel opening </a:t>
            </a:r>
          </a:p>
          <a:p>
            <a:r>
              <a:rPr lang="en-CN" dirty="0"/>
              <a:t>	unlike other ABCs, it contains an R domain and </a:t>
            </a:r>
            <a:r>
              <a:rPr lang="en-US" dirty="0"/>
              <a:t>R domain </a:t>
            </a:r>
            <a:r>
              <a:rPr lang="en-CN" dirty="0"/>
              <a:t>phosphorylation is a prerequisite for channel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8470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Two molecular structure</a:t>
            </a:r>
            <a:r>
              <a:rPr lang="en-GB" dirty="0"/>
              <a:t>s</a:t>
            </a:r>
            <a:r>
              <a:rPr lang="en-CN" dirty="0"/>
              <a:t> of different forms of hCFTR are shown.</a:t>
            </a:r>
          </a:p>
          <a:p>
            <a:endParaRPr lang="en-CN" dirty="0"/>
          </a:p>
          <a:p>
            <a:r>
              <a:rPr lang="en-CN" dirty="0"/>
              <a:t>In the dephosphorylated state</a:t>
            </a:r>
          </a:p>
          <a:p>
            <a:r>
              <a:rPr lang="en-CN" dirty="0"/>
              <a:t>	the R domain is wedged in between the NBDs and TM helices 9,10,12, inhibiting the dimeri</a:t>
            </a:r>
            <a:r>
              <a:rPr lang="en-GB" dirty="0"/>
              <a:t>s</a:t>
            </a:r>
            <a:r>
              <a:rPr lang="en-CN" dirty="0"/>
              <a:t>ation of NBDs</a:t>
            </a:r>
          </a:p>
          <a:p>
            <a:r>
              <a:rPr lang="en-CN" dirty="0"/>
              <a:t>R domain contains consensus sequences recognized by PKA and PKC </a:t>
            </a:r>
            <a:r>
              <a:rPr lang="en-CN" dirty="0">
                <a:sym typeface="Wingdings" pitchFamily="2" charset="2"/>
              </a:rPr>
              <a:t> Phosphorylation</a:t>
            </a:r>
            <a:endParaRPr lang="en-CN" dirty="0"/>
          </a:p>
          <a:p>
            <a:r>
              <a:rPr lang="en-CN" dirty="0"/>
              <a:t>In the phosphorylated state</a:t>
            </a:r>
          </a:p>
          <a:p>
            <a:r>
              <a:rPr lang="en-CN" dirty="0"/>
              <a:t>	the R domain is moved away from its occ</a:t>
            </a:r>
            <a:r>
              <a:rPr lang="en-GB" dirty="0" err="1"/>
              <a:t>lu</a:t>
            </a:r>
            <a:r>
              <a:rPr lang="en-CN" dirty="0"/>
              <a:t>ded position hence no longer inhibits the </a:t>
            </a:r>
            <a:r>
              <a:rPr lang="en-GB" noProof="0" dirty="0" err="1"/>
              <a:t>dimerisation</a:t>
            </a:r>
            <a:r>
              <a:rPr lang="en-CN" dirty="0"/>
              <a:t> of NBDs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Phosphorylation is a prerequisite</a:t>
            </a:r>
          </a:p>
          <a:p>
            <a:r>
              <a:rPr lang="en-US" dirty="0">
                <a:sym typeface="Wingdings" pitchFamily="2" charset="2"/>
              </a:rPr>
              <a:t>Channel opening is dependent on ATP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8225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NBDs key motifs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	Signature motif/Lasso/LSGGQ (Pink), Walker A and Walker B motif (Red)</a:t>
            </a:r>
            <a:r>
              <a:rPr lang="en-GB" dirty="0"/>
              <a:t> </a:t>
            </a:r>
            <a:endParaRPr lang="en-CN" dirty="0"/>
          </a:p>
          <a:p>
            <a:r>
              <a:rPr lang="en-GB" dirty="0"/>
              <a:t>The s</a:t>
            </a:r>
            <a:r>
              <a:rPr lang="en-CN" dirty="0"/>
              <a:t>ignature motif from </a:t>
            </a:r>
            <a:r>
              <a:rPr lang="en-GB" dirty="0"/>
              <a:t>the </a:t>
            </a:r>
            <a:r>
              <a:rPr lang="en-CN" dirty="0"/>
              <a:t>tail region of one NBD and </a:t>
            </a:r>
            <a:r>
              <a:rPr lang="en-GB" dirty="0"/>
              <a:t>the </a:t>
            </a:r>
            <a:r>
              <a:rPr lang="en-CN" dirty="0"/>
              <a:t>Walker motif from the head region of the other form the composite site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R</a:t>
            </a:r>
            <a:r>
              <a:rPr lang="en-CN" dirty="0"/>
              <a:t>otationally symmetrical head</a:t>
            </a:r>
            <a:r>
              <a:rPr lang="en-GB" dirty="0"/>
              <a:t>-to-</a:t>
            </a:r>
            <a:r>
              <a:rPr lang="en-CN" dirty="0"/>
              <a:t>tail dimer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The gamma phosphate of ATP provides molecular contacts with both sides of the composite site (Hydrogen bonds) </a:t>
            </a:r>
            <a:r>
              <a:rPr lang="en-CN" dirty="0">
                <a:sym typeface="Wingdings" pitchFamily="2" charset="2"/>
              </a:rPr>
              <a:t> dimer 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9663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After Inward facing </a:t>
            </a:r>
            <a:r>
              <a:rPr lang="en-CN" dirty="0">
                <a:sym typeface="Wingdings" pitchFamily="2" charset="2"/>
              </a:rPr>
              <a:t> </a:t>
            </a:r>
            <a:r>
              <a:rPr lang="en-CN" dirty="0"/>
              <a:t>Outward facing (Dimerization)</a:t>
            </a:r>
          </a:p>
          <a:p>
            <a:r>
              <a:rPr lang="en-CN" dirty="0"/>
              <a:t>Channel enters O1 state</a:t>
            </a:r>
          </a:p>
          <a:p>
            <a:r>
              <a:rPr lang="en-CN" dirty="0"/>
              <a:t>Once enters, two ways of closing:</a:t>
            </a:r>
          </a:p>
          <a:p>
            <a:r>
              <a:rPr lang="en-CN" dirty="0"/>
              <a:t>	Hydrolytic pathway</a:t>
            </a:r>
          </a:p>
          <a:p>
            <a:r>
              <a:rPr lang="en-CN" dirty="0"/>
              <a:t>	Non-hydrol</a:t>
            </a:r>
            <a:r>
              <a:rPr lang="en-GB" dirty="0"/>
              <a:t>y</a:t>
            </a:r>
            <a:r>
              <a:rPr lang="en-CN" dirty="0"/>
              <a:t>tic pathway</a:t>
            </a:r>
          </a:p>
          <a:p>
            <a:endParaRPr lang="en-CN" dirty="0"/>
          </a:p>
          <a:p>
            <a:r>
              <a:rPr lang="en-CN" dirty="0"/>
              <a:t>For WT, most channels closes via the hydrolytic pathway. Considering kinetics, k1 is much larger than k-1</a:t>
            </a:r>
          </a:p>
          <a:p>
            <a:r>
              <a:rPr lang="en-CN" dirty="0"/>
              <a:t>For some mutants that completely abolish ATP hydrolysis at site 2, they can only close via the slow non-hydrolytic pathway.</a:t>
            </a:r>
          </a:p>
          <a:p>
            <a:endParaRPr lang="en-CN" dirty="0"/>
          </a:p>
          <a:p>
            <a:r>
              <a:rPr lang="en-CN" dirty="0"/>
              <a:t>Composite site 1 is non-hydrolytically active</a:t>
            </a:r>
          </a:p>
          <a:p>
            <a:r>
              <a:rPr lang="en-CN" dirty="0"/>
              <a:t>Composite site 2 is hydrolytically active. The ATP hydrolysis at site 2 is strictly coupled to the gating cycle</a:t>
            </a:r>
          </a:p>
          <a:p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4973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CFTR mutations</a:t>
            </a:r>
          </a:p>
          <a:p>
            <a:r>
              <a:rPr lang="en-CN" dirty="0"/>
              <a:t>	F508del </a:t>
            </a:r>
            <a:r>
              <a:rPr lang="en-CN" dirty="0">
                <a:sym typeface="Wingdings" pitchFamily="2" charset="2"/>
              </a:rPr>
              <a:t> 90% carry F508del in at least one of the alleles  99% CFTR </a:t>
            </a:r>
            <a:r>
              <a:rPr lang="en-GB" dirty="0">
                <a:sym typeface="Wingdings" pitchFamily="2" charset="2"/>
              </a:rPr>
              <a:t>is</a:t>
            </a:r>
            <a:r>
              <a:rPr lang="en-CN" dirty="0">
                <a:sym typeface="Wingdings" pitchFamily="2" charset="2"/>
              </a:rPr>
              <a:t> ubiquitinated and degraded in ER</a:t>
            </a:r>
          </a:p>
          <a:p>
            <a:r>
              <a:rPr lang="en-CN" dirty="0">
                <a:sym typeface="Wingdings" pitchFamily="2" charset="2"/>
              </a:rPr>
              <a:t>	G551D  5% of patients carrying it  channel number is normal at PM  remain closed</a:t>
            </a:r>
          </a:p>
          <a:p>
            <a:r>
              <a:rPr lang="en-CN" dirty="0">
                <a:sym typeface="Wingdings" pitchFamily="2" charset="2"/>
              </a:rPr>
              <a:t>VX770</a:t>
            </a:r>
          </a:p>
          <a:p>
            <a:r>
              <a:rPr lang="en-CN" dirty="0">
                <a:sym typeface="Wingdings" pitchFamily="2" charset="2"/>
              </a:rPr>
              <a:t>	First FDA-approved CFTR potentiator for G551D</a:t>
            </a:r>
          </a:p>
          <a:p>
            <a:r>
              <a:rPr lang="en-CN" dirty="0">
                <a:sym typeface="Wingdings" pitchFamily="2" charset="2"/>
              </a:rPr>
              <a:t>	Increases Po</a:t>
            </a:r>
          </a:p>
          <a:p>
            <a:r>
              <a:rPr lang="en-CN" dirty="0">
                <a:sym typeface="Wingdings" pitchFamily="2" charset="2"/>
              </a:rPr>
              <a:t>	Exact mechanism of VX-770 is unclear</a:t>
            </a:r>
          </a:p>
          <a:p>
            <a:r>
              <a:rPr lang="en-CN" dirty="0">
                <a:sym typeface="Wingdings" pitchFamily="2" charset="2"/>
              </a:rPr>
              <a:t>	Life-changing  Combination</a:t>
            </a:r>
          </a:p>
          <a:p>
            <a:r>
              <a:rPr lang="en-CN" dirty="0">
                <a:sym typeface="Wingdings" pitchFamily="2" charset="2"/>
              </a:rPr>
              <a:t>	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8660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CN" sz="1200" dirty="0"/>
              <a:t>VX-661 </a:t>
            </a:r>
            <a:r>
              <a:rPr lang="en-GB" altLang="en-CN" sz="1200" dirty="0"/>
              <a:t>stabilizes</a:t>
            </a:r>
            <a:r>
              <a:rPr lang="en-US" altLang="en-CN" sz="1200" dirty="0"/>
              <a:t> TMD1</a:t>
            </a:r>
          </a:p>
          <a:p>
            <a:r>
              <a:rPr lang="en-US" altLang="en-CN" sz="1200" dirty="0"/>
              <a:t>VX-445 allosterically stabilizes NBD1</a:t>
            </a:r>
          </a:p>
          <a:p>
            <a:r>
              <a:rPr lang="en-US" altLang="en-CN" sz="1200" dirty="0"/>
              <a:t>	Synergy effect as they have different binding sites</a:t>
            </a:r>
          </a:p>
          <a:p>
            <a:endParaRPr lang="en-US" altLang="en-CN" sz="1200" dirty="0"/>
          </a:p>
          <a:p>
            <a:endParaRPr lang="en-US" altLang="en-CN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86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A4BE1C-C580-0135-4490-AC4A22E123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3850" y="1484313"/>
            <a:ext cx="8496300" cy="1368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CN" noProof="0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1BACBB-DDAF-041A-4562-5A445537CD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3068638"/>
            <a:ext cx="8496300" cy="3097212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CN" noProof="0"/>
              <a:t>Click to edit Master subtitle style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677ACC73-F513-2069-870C-B45095B770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" y="6245225"/>
            <a:ext cx="84963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CN"/>
          </a:p>
        </p:txBody>
      </p:sp>
      <p:pic>
        <p:nvPicPr>
          <p:cNvPr id="4112" name="Picture 16">
            <a:extLst>
              <a:ext uri="{FF2B5EF4-FFF2-40B4-BE49-F238E27FC236}">
                <a16:creationId xmlns:a16="http://schemas.microsoft.com/office/drawing/2014/main" id="{7D3FD2FA-7491-0A25-B25E-AC82F9AAF7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CE25-BBEC-3D12-9342-5D7B63B2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F5A6-B2AB-740B-AEDD-193D496E0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5283-7036-9958-F0CE-4DB58448F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C6C64D-9E09-B24F-AB99-CC926E2A399D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43498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A555-38FA-EE95-69E4-22A9FAA5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3782-BDFF-CFBD-D1F7-83817C29D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43DDE-989B-B6E7-1FDB-832E4B32C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FCBF8C-2847-A849-B60D-02B934AEF364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03971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78FB-791B-B47F-36CF-AE9B6772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FBFC-6129-6F19-A9B2-5F3B26F03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200" y="2708275"/>
            <a:ext cx="4168775" cy="345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71754-81D7-395A-49E8-4E0DA4A8A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1375" y="2708275"/>
            <a:ext cx="4168775" cy="345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54DE-B57D-61FA-4DEF-8079E0E23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ED17F2A-F905-1A43-A481-9EC15416BA0B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35374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33A7-BB5C-D0A0-F0E9-5FD47CD8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752B7-60D2-0424-060E-1CFFD7F7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65743-0BEC-C095-83E6-8C513EE67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9CC67-02D0-DED1-E744-B54FADAA4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31399-79BF-CE97-235E-D25C27485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25269-B42A-B822-EAE9-813931607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127FCF-4B28-B74E-AA76-D107434C5A8F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70494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4E96-7ADF-7491-F150-37A13585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1767F9-68DA-0CD0-D06E-D2E6BA4F9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B382FF-CC9E-9048-B2D6-163A8615FAEF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362038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111E7-BFE2-B387-70E6-79B18D069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BFB5D-B62D-BB49-BAC2-9BCFB5693F17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28192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1046-A0CC-4BDA-0849-C1D80363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00A94-9005-9396-9F50-6E16D125A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1D37C-3038-5FE1-E9EC-8F40C8A8A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52CE9-99E9-E272-AB14-38CCB75B0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92C433-55CB-1A4C-BDDE-B5AB41D5AB55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13292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468D-8061-F2A5-B1F3-9BBE587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8714B-5E12-0649-D439-E12CC188C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89DC2-AB7E-E019-4B19-C2F957610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FDFC0-85D7-42D5-952A-C127BCE4C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BF1239-0F88-DC43-B2C1-C7AA21BB4B17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6887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E47C-9286-AD9E-1B38-D64A51AC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509CD-1251-373C-F832-67752E13B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6EEA1-04D8-9C59-EF90-21A810692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5CE305-1C6C-BB4B-9B02-49550B2A25FC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93549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7D9BE4-81CE-96D8-B858-B1A85DFA3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7663" y="908050"/>
            <a:ext cx="2122487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6205F-1C30-C37B-2B0F-A29B8A9F4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0200" y="908050"/>
            <a:ext cx="6215063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106B8-4BEE-8868-9A25-FBAD3FF1B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7DBCD0-5567-0C4C-8919-9576DAFBCA3E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99824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7260A3C-6B5A-BE29-5B7B-B44D1CA4C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0200" y="908050"/>
            <a:ext cx="8489950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CN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E94EB20-8635-F3DC-C45C-9C62BFAE7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0200" y="2708275"/>
            <a:ext cx="848995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CN"/>
              <a:t>Click to edit Master text styles</a:t>
            </a:r>
          </a:p>
          <a:p>
            <a:pPr lvl="1"/>
            <a:r>
              <a:rPr lang="en-US" altLang="en-CN"/>
              <a:t>Second level</a:t>
            </a:r>
          </a:p>
          <a:p>
            <a:pPr lvl="2"/>
            <a:r>
              <a:rPr lang="en-US" altLang="en-CN"/>
              <a:t>Third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DB11224-5B5E-352C-5142-412A7BE056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337300"/>
            <a:ext cx="10080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FB9EBE-1033-5F48-B5CD-59F1E4A8E933}" type="slidenum">
              <a:rPr lang="en-US" altLang="en-CN"/>
              <a:pPr/>
              <a:t>‹#›</a:t>
            </a:fld>
            <a:endParaRPr lang="en-US" altLang="en-CN"/>
          </a:p>
        </p:txBody>
      </p:sp>
      <p:pic>
        <p:nvPicPr>
          <p:cNvPr id="3088" name="Picture 16">
            <a:extLst>
              <a:ext uri="{FF2B5EF4-FFF2-40B4-BE49-F238E27FC236}">
                <a16:creationId xmlns:a16="http://schemas.microsoft.com/office/drawing/2014/main" id="{E734F110-C447-8DC8-9775-B1DDEDC581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F519D9-7824-D6E8-D418-5B4BFABA6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9860" y="1331521"/>
            <a:ext cx="8496300" cy="1008112"/>
          </a:xfrm>
        </p:spPr>
        <p:txBody>
          <a:bodyPr/>
          <a:lstStyle/>
          <a:p>
            <a:pPr algn="ctr"/>
            <a:r>
              <a:rPr lang="en-CN" altLang="en-CN" dirty="0"/>
              <a:t>Deciphering the molecular basis and pharmacotherapy of Cystic Fibrosis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BC5E492-560E-0F63-E151-B52534701F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75916" y="4991462"/>
            <a:ext cx="4392166" cy="1872530"/>
          </a:xfrm>
        </p:spPr>
        <p:txBody>
          <a:bodyPr/>
          <a:lstStyle/>
          <a:p>
            <a:pPr algn="ctr"/>
            <a:r>
              <a:rPr lang="en-CN" altLang="en-CN" sz="2400" dirty="0"/>
              <a:t>Zheheng</a:t>
            </a:r>
            <a:r>
              <a:rPr lang="zh-CN" altLang="en-US" sz="2400" dirty="0"/>
              <a:t> </a:t>
            </a:r>
            <a:r>
              <a:rPr lang="en-US" altLang="zh-CN" sz="2400" dirty="0"/>
              <a:t>Fan</a:t>
            </a:r>
            <a:endParaRPr lang="en-CN" altLang="zh-CN" sz="2400" dirty="0"/>
          </a:p>
          <a:p>
            <a:pPr algn="ctr"/>
            <a:r>
              <a:rPr lang="en-CN" altLang="zh-CN" sz="2400" dirty="0"/>
              <a:t>22009451</a:t>
            </a:r>
          </a:p>
          <a:p>
            <a:pPr algn="ctr"/>
            <a:r>
              <a:rPr lang="en-US" sz="2400" dirty="0"/>
              <a:t>Biomedical Sciences </a:t>
            </a:r>
            <a:r>
              <a:rPr lang="en-US" sz="2400" i="1" dirty="0"/>
              <a:t>BSc.</a:t>
            </a:r>
          </a:p>
          <a:p>
            <a:pPr algn="ctr"/>
            <a:r>
              <a:rPr lang="en-US" altLang="zh-CN" sz="2400" dirty="0"/>
              <a:t>Supervisor: Dr. Paula </a:t>
            </a:r>
            <a:r>
              <a:rPr lang="en-US" altLang="zh-CN" sz="2400" dirty="0" err="1"/>
              <a:t>Vergani</a:t>
            </a:r>
            <a:endParaRPr lang="en-US" altLang="zh-CN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65A23-3580-DBE7-5F43-9BD79E24A9D7}"/>
              </a:ext>
            </a:extLst>
          </p:cNvPr>
          <p:cNvSpPr txBox="1">
            <a:spLocks/>
          </p:cNvSpPr>
          <p:nvPr/>
        </p:nvSpPr>
        <p:spPr bwMode="auto">
          <a:xfrm>
            <a:off x="323850" y="151978"/>
            <a:ext cx="5681960" cy="100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sz="2800" dirty="0">
                <a:solidFill>
                  <a:schemeClr val="bg1"/>
                </a:solidFill>
              </a:rPr>
              <a:t>Division of Bios</a:t>
            </a:r>
            <a:r>
              <a:rPr lang="en-GB" sz="2800" dirty="0">
                <a:solidFill>
                  <a:schemeClr val="bg1"/>
                </a:solidFill>
              </a:rPr>
              <a:t>ci</a:t>
            </a:r>
            <a:r>
              <a:rPr lang="en-CN" sz="2800" dirty="0">
                <a:solidFill>
                  <a:schemeClr val="bg1"/>
                </a:solidFill>
              </a:rPr>
              <a:t>ences</a:t>
            </a:r>
          </a:p>
          <a:p>
            <a:r>
              <a:rPr lang="en-CN" sz="2800" dirty="0">
                <a:solidFill>
                  <a:schemeClr val="bg1"/>
                </a:solidFill>
              </a:rPr>
              <a:t>BIOS0006 presentation</a:t>
            </a:r>
          </a:p>
        </p:txBody>
      </p:sp>
      <p:pic>
        <p:nvPicPr>
          <p:cNvPr id="1028" name="Picture 4" descr="A semipermeable cell membrane has openings small enough for water molecules  to pass through, but will not allow la… | Biology humor, Biology jokes,  Teaching biology">
            <a:extLst>
              <a:ext uri="{FF2B5EF4-FFF2-40B4-BE49-F238E27FC236}">
                <a16:creationId xmlns:a16="http://schemas.microsoft.com/office/drawing/2014/main" id="{0D058F86-5321-2255-85CC-80BAB97AA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" b="21991"/>
          <a:stretch/>
        </p:blipFill>
        <p:spPr bwMode="auto">
          <a:xfrm>
            <a:off x="1601778" y="2365291"/>
            <a:ext cx="5940444" cy="262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>
            <a:extLst>
              <a:ext uri="{FF2B5EF4-FFF2-40B4-BE49-F238E27FC236}">
                <a16:creationId xmlns:a16="http://schemas.microsoft.com/office/drawing/2014/main" id="{07359759-E692-751C-6089-ED1A6C307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025" y="8397"/>
            <a:ext cx="8489950" cy="576734"/>
          </a:xfrm>
        </p:spPr>
        <p:txBody>
          <a:bodyPr/>
          <a:lstStyle/>
          <a:p>
            <a:r>
              <a:rPr lang="en-CN" altLang="en-CN" dirty="0">
                <a:solidFill>
                  <a:schemeClr val="bg1"/>
                </a:solidFill>
              </a:rPr>
              <a:t>Introduction to CFTR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84B72C0B-124A-DC7D-AA20-7E3981E6A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548" y="3861048"/>
            <a:ext cx="8136904" cy="1368152"/>
          </a:xfrm>
        </p:spPr>
        <p:txBody>
          <a:bodyPr/>
          <a:lstStyle/>
          <a:p>
            <a:r>
              <a:rPr lang="en-CN" altLang="en-CN" sz="2000" dirty="0"/>
              <a:t>CFTR is a unique member of the ABC transporter family</a:t>
            </a:r>
          </a:p>
          <a:p>
            <a:r>
              <a:rPr lang="en-CN" altLang="en-CN" sz="2000" dirty="0"/>
              <a:t>Main function:</a:t>
            </a:r>
          </a:p>
          <a:p>
            <a:pPr lvl="1"/>
            <a:r>
              <a:rPr lang="en-CN" altLang="en-CN" sz="1800" dirty="0"/>
              <a:t>Allow </a:t>
            </a:r>
            <a:r>
              <a:rPr lang="en-GB" altLang="en-CN" sz="1800" dirty="0"/>
              <a:t>the </a:t>
            </a:r>
            <a:r>
              <a:rPr lang="en-CN" altLang="en-CN" sz="1800" dirty="0"/>
              <a:t>flow of Cl</a:t>
            </a:r>
            <a:r>
              <a:rPr lang="en-CN" altLang="en-CN" sz="1800" baseline="30000" dirty="0"/>
              <a:t>-</a:t>
            </a:r>
            <a:r>
              <a:rPr lang="en-CN" altLang="en-CN" sz="1800" dirty="0"/>
              <a:t> and HCO3</a:t>
            </a:r>
            <a:r>
              <a:rPr lang="en-CN" altLang="en-CN" sz="1800" baseline="30000" dirty="0"/>
              <a:t>-</a:t>
            </a:r>
            <a:r>
              <a:rPr lang="en-CN" altLang="en-CN" sz="1800" dirty="0"/>
              <a:t> passively down </a:t>
            </a:r>
            <a:r>
              <a:rPr lang="en-GB" altLang="en-CN" sz="1800" dirty="0"/>
              <a:t>the </a:t>
            </a:r>
            <a:r>
              <a:rPr lang="en-CN" altLang="en-CN" sz="1800" dirty="0"/>
              <a:t>concentration gradient</a:t>
            </a:r>
          </a:p>
        </p:txBody>
      </p:sp>
      <p:pic>
        <p:nvPicPr>
          <p:cNvPr id="2" name="Picture 5" descr="TopoCFTR">
            <a:extLst>
              <a:ext uri="{FF2B5EF4-FFF2-40B4-BE49-F238E27FC236}">
                <a16:creationId xmlns:a16="http://schemas.microsoft.com/office/drawing/2014/main" id="{3A47FF8F-FE44-D246-D14C-15695C989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056403"/>
            <a:ext cx="641275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DF94286D-9784-7231-7B15-47613EE95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4201" y="585131"/>
            <a:ext cx="3168352" cy="89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100" b="1" dirty="0"/>
              <a:t>Glossary</a:t>
            </a:r>
          </a:p>
          <a:p>
            <a:pPr lvl="1"/>
            <a:r>
              <a:rPr lang="en-US" altLang="en-CN" sz="1100" dirty="0"/>
              <a:t>NBD – Nucleotide-binding domain</a:t>
            </a:r>
          </a:p>
          <a:p>
            <a:pPr lvl="1"/>
            <a:r>
              <a:rPr lang="en-US" altLang="en-CN" sz="1100" dirty="0"/>
              <a:t>TMD – Transmembrane domain</a:t>
            </a:r>
          </a:p>
          <a:p>
            <a:pPr lvl="1"/>
            <a:r>
              <a:rPr lang="en-US" altLang="en-CN" sz="1100" dirty="0"/>
              <a:t>ABC – ATP-binding cassette</a:t>
            </a:r>
            <a:endParaRPr lang="en-CN" altLang="en-CN" sz="1100" dirty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26AB96B-95C3-4DCF-CA1E-C3AAC2BAC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48" y="5225464"/>
            <a:ext cx="8136904" cy="93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en-CN" sz="2000" dirty="0"/>
              <a:t>5 domains: </a:t>
            </a:r>
          </a:p>
          <a:p>
            <a:pPr lvl="1"/>
            <a:r>
              <a:rPr lang="en-CN" altLang="en-CN" sz="1600" dirty="0"/>
              <a:t>two membrane-spanning TMDs, two NBDs, one regulatory R domain</a:t>
            </a:r>
          </a:p>
          <a:p>
            <a:endParaRPr lang="en-CN" altLang="en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B2FC-0EA5-C316-B85E-C6EA75B1F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48" y="0"/>
            <a:ext cx="5681960" cy="648742"/>
          </a:xfrm>
        </p:spPr>
        <p:txBody>
          <a:bodyPr/>
          <a:lstStyle/>
          <a:p>
            <a:r>
              <a:rPr lang="en-CN" dirty="0">
                <a:solidFill>
                  <a:schemeClr val="bg1"/>
                </a:solidFill>
              </a:rPr>
              <a:t>CFTR mechanism of opening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F8ED9-BD7B-ADA9-55F6-05FDC0438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12" y="1124744"/>
            <a:ext cx="7634176" cy="42935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B9135D-D71E-0DDE-4380-A358C6C22AC7}"/>
              </a:ext>
            </a:extLst>
          </p:cNvPr>
          <p:cNvSpPr txBox="1">
            <a:spLocks/>
          </p:cNvSpPr>
          <p:nvPr/>
        </p:nvSpPr>
        <p:spPr bwMode="auto">
          <a:xfrm>
            <a:off x="124470" y="683856"/>
            <a:ext cx="9002712" cy="64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sz="2400" dirty="0"/>
              <a:t>R-domain phosphorylation regulates CFTR channel opening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A5AA3BE-E917-945B-7E40-04059FDF4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059" y="5564411"/>
            <a:ext cx="8569808" cy="1104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en-CN" sz="2000" dirty="0"/>
              <a:t>R domain is phosphorylated by cAMP-dependent kinase A (PKA) and protein kinase C (PKC)</a:t>
            </a:r>
          </a:p>
          <a:p>
            <a:r>
              <a:rPr lang="en-CN" altLang="en-CN" sz="2000" dirty="0"/>
              <a:t>Phosphorylation of </a:t>
            </a:r>
            <a:r>
              <a:rPr lang="en-GB" altLang="en-CN" sz="2000" dirty="0"/>
              <a:t>the </a:t>
            </a:r>
            <a:r>
              <a:rPr lang="en-CN" altLang="en-CN" sz="2000" dirty="0"/>
              <a:t>R domain is a prerequisite for channel opening</a:t>
            </a:r>
          </a:p>
          <a:p>
            <a:endParaRPr lang="en-CN" altLang="en-CN" dirty="0"/>
          </a:p>
        </p:txBody>
      </p:sp>
    </p:spTree>
    <p:extLst>
      <p:ext uri="{BB962C8B-B14F-4D97-AF65-F5344CB8AC3E}">
        <p14:creationId xmlns:p14="http://schemas.microsoft.com/office/powerpoint/2010/main" val="147100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EAFF-0DE8-36BD-19DD-7EC40190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693316"/>
            <a:ext cx="8489950" cy="864766"/>
          </a:xfrm>
        </p:spPr>
        <p:txBody>
          <a:bodyPr/>
          <a:lstStyle/>
          <a:p>
            <a:r>
              <a:rPr lang="en-CN" sz="2400" dirty="0"/>
              <a:t>ATP-dependent dimerization of NBDs drive</a:t>
            </a:r>
            <a:r>
              <a:rPr lang="en-GB" sz="2400" dirty="0"/>
              <a:t>s</a:t>
            </a:r>
            <a:r>
              <a:rPr lang="en-CN" sz="2400" dirty="0"/>
              <a:t> CFTR channel opening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9CC4B6-8E3D-EE2A-5B79-895198C73F07}"/>
              </a:ext>
            </a:extLst>
          </p:cNvPr>
          <p:cNvSpPr txBox="1">
            <a:spLocks/>
          </p:cNvSpPr>
          <p:nvPr/>
        </p:nvSpPr>
        <p:spPr bwMode="auto">
          <a:xfrm>
            <a:off x="324148" y="0"/>
            <a:ext cx="5681960" cy="64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dirty="0">
                <a:solidFill>
                  <a:schemeClr val="bg1"/>
                </a:solidFill>
              </a:rPr>
              <a:t>CFTR mechanism of opening</a:t>
            </a: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818CD023-F9FE-B427-E25A-066A9FF7085B}"/>
              </a:ext>
            </a:extLst>
          </p:cNvPr>
          <p:cNvGrpSpPr>
            <a:grpSpLocks/>
          </p:cNvGrpSpPr>
          <p:nvPr/>
        </p:nvGrpSpPr>
        <p:grpSpPr bwMode="auto">
          <a:xfrm>
            <a:off x="-34401" y="1558082"/>
            <a:ext cx="4227240" cy="5091745"/>
            <a:chOff x="3065" y="527"/>
            <a:chExt cx="2718" cy="3492"/>
          </a:xfrm>
        </p:grpSpPr>
        <p:pic>
          <p:nvPicPr>
            <p:cNvPr id="8" name="Picture 4" descr="yinyang_MalK_dimer">
              <a:extLst>
                <a:ext uri="{FF2B5EF4-FFF2-40B4-BE49-F238E27FC236}">
                  <a16:creationId xmlns:a16="http://schemas.microsoft.com/office/drawing/2014/main" id="{2C9F2C82-294D-DF4E-F551-C83D3146A3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 t="56013"/>
            <a:stretch>
              <a:fillRect/>
            </a:stretch>
          </p:blipFill>
          <p:spPr bwMode="auto">
            <a:xfrm>
              <a:off x="3377" y="2523"/>
              <a:ext cx="2163" cy="1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MalK_ATP_colours">
              <a:extLst>
                <a:ext uri="{FF2B5EF4-FFF2-40B4-BE49-F238E27FC236}">
                  <a16:creationId xmlns:a16="http://schemas.microsoft.com/office/drawing/2014/main" id="{736DBF45-E17F-E03E-4F2A-8B21E4B3F4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65" y="616"/>
              <a:ext cx="2718" cy="2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AEC76EEA-7DAE-C731-CAC6-7AF21D6AC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50" y="709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97DF7885-3556-87F3-E555-ADC091A4C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05" y="709"/>
              <a:ext cx="317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855684C1-1061-6609-0275-33EFA958C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527"/>
              <a:ext cx="3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>
                  <a:latin typeface="Arial" pitchFamily="34" charset="0"/>
                </a:rPr>
                <a:t>ATP</a:t>
              </a:r>
            </a:p>
          </p:txBody>
        </p:sp>
      </p:grpSp>
      <p:sp>
        <p:nvSpPr>
          <p:cNvPr id="3" name="Rectangle 8">
            <a:extLst>
              <a:ext uri="{FF2B5EF4-FFF2-40B4-BE49-F238E27FC236}">
                <a16:creationId xmlns:a16="http://schemas.microsoft.com/office/drawing/2014/main" id="{F9B0CD85-3E96-A921-7863-5B7DF52AB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218" y="5204295"/>
            <a:ext cx="4830759" cy="131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en-CN" sz="2000" dirty="0"/>
              <a:t>Two NBDs form a rotationally symmetrical head-to-tail dimer</a:t>
            </a:r>
          </a:p>
          <a:p>
            <a:r>
              <a:rPr lang="en-GB" altLang="en-CN" sz="2000" dirty="0"/>
              <a:t>T</a:t>
            </a:r>
            <a:r>
              <a:rPr lang="en-CN" altLang="en-CN" sz="2000" dirty="0"/>
              <a:t>he dimerization signal is transduced to the TMDs to allow channel opening</a:t>
            </a:r>
          </a:p>
          <a:p>
            <a:endParaRPr lang="en-CN" altLang="en-CN" dirty="0"/>
          </a:p>
        </p:txBody>
      </p:sp>
      <p:pic>
        <p:nvPicPr>
          <p:cNvPr id="10" name="Picture 15" descr="MalK_side">
            <a:extLst>
              <a:ext uri="{FF2B5EF4-FFF2-40B4-BE49-F238E27FC236}">
                <a16:creationId xmlns:a16="http://schemas.microsoft.com/office/drawing/2014/main" id="{5E3946F8-029C-91CF-0872-1D2A4509C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t="18149" b="7396"/>
          <a:stretch>
            <a:fillRect/>
          </a:stretch>
        </p:blipFill>
        <p:spPr bwMode="auto">
          <a:xfrm>
            <a:off x="4406847" y="3214568"/>
            <a:ext cx="2642488" cy="1782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1" descr="MalKso_side">
            <a:extLst>
              <a:ext uri="{FF2B5EF4-FFF2-40B4-BE49-F238E27FC236}">
                <a16:creationId xmlns:a16="http://schemas.microsoft.com/office/drawing/2014/main" id="{BB4192D4-5647-A78C-BB41-72641CF61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 t="21413" b="15329"/>
          <a:stretch>
            <a:fillRect/>
          </a:stretch>
        </p:blipFill>
        <p:spPr bwMode="auto">
          <a:xfrm>
            <a:off x="4233138" y="1258098"/>
            <a:ext cx="2821495" cy="1660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AA1DE160-286C-E9B2-4E50-D4B109405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7445" y="4931679"/>
            <a:ext cx="2592957" cy="410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N" altLang="en-CN" sz="1400" dirty="0"/>
              <a:t>ATP-bound dimerized NBDs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EBE3C013-0F5E-DF02-1D0B-33E4C4F1B4C3}"/>
              </a:ext>
            </a:extLst>
          </p:cNvPr>
          <p:cNvSpPr/>
          <p:nvPr/>
        </p:nvSpPr>
        <p:spPr>
          <a:xfrm>
            <a:off x="5566503" y="2918177"/>
            <a:ext cx="360040" cy="4160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0F0F206-D8C9-9968-F20B-8C37E9E6F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515" y="2412991"/>
            <a:ext cx="2735485" cy="86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100" b="1" dirty="0"/>
              <a:t>Glossary</a:t>
            </a:r>
          </a:p>
          <a:p>
            <a:pPr lvl="1"/>
            <a:r>
              <a:rPr lang="en-US" altLang="en-CN" sz="1050" dirty="0"/>
              <a:t>Signature motif/ Lasso motif/ LSGGQ motif </a:t>
            </a:r>
            <a:r>
              <a:rPr lang="en-US" altLang="en-CN" sz="1050" dirty="0">
                <a:sym typeface="Wingdings" pitchFamily="2" charset="2"/>
              </a:rPr>
              <a:t> </a:t>
            </a:r>
            <a:r>
              <a:rPr lang="en-US" altLang="en-CN" sz="1050" dirty="0"/>
              <a:t>Labelled pink</a:t>
            </a:r>
          </a:p>
          <a:p>
            <a:pPr lvl="1"/>
            <a:r>
              <a:rPr lang="en-US" altLang="en-CN" sz="1050" dirty="0"/>
              <a:t>Walker A and B motif </a:t>
            </a:r>
            <a:r>
              <a:rPr lang="en-US" altLang="en-CN" sz="1050" dirty="0">
                <a:sym typeface="Wingdings" pitchFamily="2" charset="2"/>
              </a:rPr>
              <a:t> Labelled red</a:t>
            </a:r>
            <a:endParaRPr lang="en-US" altLang="en-CN" sz="1050" dirty="0"/>
          </a:p>
          <a:p>
            <a:pPr lvl="1"/>
            <a:endParaRPr lang="en-US" altLang="en-CN" sz="700" b="1" dirty="0"/>
          </a:p>
        </p:txBody>
      </p:sp>
    </p:spTree>
    <p:extLst>
      <p:ext uri="{BB962C8B-B14F-4D97-AF65-F5344CB8AC3E}">
        <p14:creationId xmlns:p14="http://schemas.microsoft.com/office/powerpoint/2010/main" val="112948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601B93-22AA-570B-C847-6BD28512E9B6}"/>
              </a:ext>
            </a:extLst>
          </p:cNvPr>
          <p:cNvSpPr txBox="1">
            <a:spLocks/>
          </p:cNvSpPr>
          <p:nvPr/>
        </p:nvSpPr>
        <p:spPr bwMode="auto">
          <a:xfrm>
            <a:off x="324148" y="0"/>
            <a:ext cx="5681960" cy="64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dirty="0">
                <a:solidFill>
                  <a:schemeClr val="bg1"/>
                </a:solidFill>
              </a:rPr>
              <a:t>CFTR mechanism of opening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EC082-58D5-B421-C1AA-FAC33ECA54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5" y="1271172"/>
            <a:ext cx="3979614" cy="37840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FE0A98-C25B-7ED5-F261-4A54CA63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693316"/>
            <a:ext cx="8489950" cy="864766"/>
          </a:xfrm>
        </p:spPr>
        <p:txBody>
          <a:bodyPr/>
          <a:lstStyle/>
          <a:p>
            <a:r>
              <a:rPr lang="en-CN" sz="2400" dirty="0"/>
              <a:t>ATP hydrolysis and gating cycles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73F54-5FB5-0908-75E3-B72D870A31D0}"/>
              </a:ext>
            </a:extLst>
          </p:cNvPr>
          <p:cNvSpPr txBox="1"/>
          <p:nvPr/>
        </p:nvSpPr>
        <p:spPr>
          <a:xfrm>
            <a:off x="0" y="4976871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240" indent="137160"/>
            <a:r>
              <a:rPr lang="en-US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Langron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 et al. </a:t>
            </a:r>
            <a:r>
              <a:rPr lang="en-US" kern="100" dirty="0"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2018)</a:t>
            </a:r>
            <a:endParaRPr lang="en-CN" sz="2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DD8220C4-6CFA-E816-7E76-A359C51DC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4202" y="585132"/>
            <a:ext cx="2877834" cy="97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100" b="1" dirty="0"/>
              <a:t>Glossary</a:t>
            </a:r>
          </a:p>
          <a:p>
            <a:pPr lvl="1"/>
            <a:r>
              <a:rPr lang="en-US" altLang="en-CN" sz="1050" dirty="0"/>
              <a:t>K1250 – Walker A lysine in NBD2, forming composite site 2</a:t>
            </a:r>
          </a:p>
          <a:p>
            <a:pPr lvl="1"/>
            <a:r>
              <a:rPr lang="en-GB" sz="1100" i="1" dirty="0">
                <a:solidFill>
                  <a:srgbClr val="212121"/>
                </a:solidFill>
                <a:effectLst/>
                <a:latin typeface="Noto Serif" panose="02020600060500020200" pitchFamily="18" charset="0"/>
                <a:ea typeface="DengXian" panose="02010600030101010101" pitchFamily="2" charset="-122"/>
              </a:rPr>
              <a:t>τ</a:t>
            </a:r>
            <a:r>
              <a:rPr lang="en-GB" sz="1100" baseline="-25000" dirty="0">
                <a:solidFill>
                  <a:srgbClr val="212121"/>
                </a:solidFill>
                <a:effectLst/>
                <a:latin typeface="Noto Serif" panose="02020600060500020200" pitchFamily="18" charset="0"/>
                <a:ea typeface="DengXian" panose="02010600030101010101" pitchFamily="2" charset="-122"/>
              </a:rPr>
              <a:t>b</a:t>
            </a:r>
            <a:r>
              <a:rPr lang="en-CN" sz="1100" dirty="0">
                <a:effectLst/>
              </a:rPr>
              <a:t>  -- burst duration</a:t>
            </a:r>
          </a:p>
          <a:p>
            <a:pPr lvl="1"/>
            <a:r>
              <a:rPr lang="en-CN" sz="1100" dirty="0"/>
              <a:t>K1250A is not a disease-causing mutation</a:t>
            </a:r>
            <a:endParaRPr lang="en-CN" sz="1100" dirty="0">
              <a:effectLst/>
            </a:endParaRPr>
          </a:p>
          <a:p>
            <a:pPr marL="457200" lvl="1" indent="0">
              <a:buNone/>
            </a:pPr>
            <a:endParaRPr lang="en-US" altLang="en-CN" sz="1100" dirty="0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1D7949A4-889D-6AF4-FCC1-60066A4EE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14" y="5346203"/>
            <a:ext cx="4705955" cy="1525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800" dirty="0"/>
              <a:t>Most WT-CFTR </a:t>
            </a:r>
            <a:r>
              <a:rPr lang="en-GB" altLang="en-CN" sz="1800" dirty="0"/>
              <a:t>favours</a:t>
            </a:r>
            <a:r>
              <a:rPr lang="en-US" altLang="en-CN" sz="1800" dirty="0"/>
              <a:t> the hydrolytic pathway (</a:t>
            </a:r>
            <a:r>
              <a:rPr lang="en-US" sz="1800" dirty="0"/>
              <a:t>C</a:t>
            </a:r>
            <a:r>
              <a:rPr lang="en-US" sz="1800" baseline="-25000" dirty="0"/>
              <a:t>1</a:t>
            </a:r>
            <a:r>
              <a:rPr lang="en-US" sz="1800" dirty="0">
                <a:sym typeface="Wingdings" pitchFamily="2" charset="2"/>
              </a:rPr>
              <a:t></a:t>
            </a:r>
            <a:r>
              <a:rPr lang="en-US" sz="1800" dirty="0"/>
              <a:t>O</a:t>
            </a:r>
            <a:r>
              <a:rPr lang="en-US" sz="1800" baseline="-25000" dirty="0"/>
              <a:t>1</a:t>
            </a:r>
            <a:r>
              <a:rPr lang="en-US" sz="1800" dirty="0">
                <a:sym typeface="Wingdings" pitchFamily="2" charset="2"/>
              </a:rPr>
              <a:t></a:t>
            </a:r>
            <a:r>
              <a:rPr lang="en-US" sz="1800" dirty="0"/>
              <a:t>O</a:t>
            </a:r>
            <a:r>
              <a:rPr lang="en-US" sz="1800" baseline="-25000" dirty="0"/>
              <a:t>2</a:t>
            </a:r>
            <a:r>
              <a:rPr lang="en-US" sz="1800" dirty="0">
                <a:sym typeface="Wingdings" pitchFamily="2" charset="2"/>
              </a:rPr>
              <a:t></a:t>
            </a:r>
            <a:r>
              <a:rPr lang="en-US" sz="1800" dirty="0"/>
              <a:t>C</a:t>
            </a:r>
            <a:r>
              <a:rPr lang="en-US" sz="1800" baseline="-25000" dirty="0"/>
              <a:t>2</a:t>
            </a:r>
            <a:r>
              <a:rPr lang="en-US" sz="1800" dirty="0">
                <a:sym typeface="Wingdings" pitchFamily="2" charset="2"/>
              </a:rPr>
              <a:t>C</a:t>
            </a:r>
            <a:r>
              <a:rPr lang="en-US" sz="1800" baseline="-25000" dirty="0">
                <a:sym typeface="Wingdings" pitchFamily="2" charset="2"/>
              </a:rPr>
              <a:t>1</a:t>
            </a:r>
            <a:r>
              <a:rPr lang="en-US" altLang="en-CN" sz="1800" dirty="0"/>
              <a:t>)</a:t>
            </a:r>
          </a:p>
          <a:p>
            <a:r>
              <a:rPr lang="en-US" altLang="en-CN" sz="1800" dirty="0"/>
              <a:t>For mutants that abolish ATP hydrolysis at site 2, they undergo the non-hydrolytic pathway (</a:t>
            </a:r>
            <a:r>
              <a:rPr lang="en-US" sz="1800" dirty="0"/>
              <a:t>C</a:t>
            </a:r>
            <a:r>
              <a:rPr lang="en-US" sz="1800" baseline="-25000" dirty="0"/>
              <a:t>1</a:t>
            </a:r>
            <a:r>
              <a:rPr lang="en-US" sz="1800" dirty="0">
                <a:sym typeface="Wingdings" pitchFamily="2" charset="2"/>
              </a:rPr>
              <a:t></a:t>
            </a:r>
            <a:r>
              <a:rPr lang="en-US" sz="1800" dirty="0"/>
              <a:t>O</a:t>
            </a:r>
            <a:r>
              <a:rPr lang="en-US" sz="1800" baseline="-25000" dirty="0"/>
              <a:t>1</a:t>
            </a:r>
            <a:r>
              <a:rPr lang="en-US" sz="1800" dirty="0">
                <a:sym typeface="Wingdings" pitchFamily="2" charset="2"/>
              </a:rPr>
              <a:t>C</a:t>
            </a:r>
            <a:r>
              <a:rPr lang="en-US" sz="1800" baseline="-25000" dirty="0"/>
              <a:t>1</a:t>
            </a:r>
            <a:r>
              <a:rPr lang="en-US" altLang="en-CN" sz="1800" dirty="0"/>
              <a:t>)</a:t>
            </a:r>
          </a:p>
          <a:p>
            <a:endParaRPr lang="en-US" altLang="en-CN" sz="2000" dirty="0"/>
          </a:p>
          <a:p>
            <a:endParaRPr lang="en-US" altLang="en-CN" sz="2000" dirty="0"/>
          </a:p>
          <a:p>
            <a:endParaRPr lang="en-CN" altLang="en-CN" sz="2000" dirty="0"/>
          </a:p>
          <a:p>
            <a:endParaRPr lang="en-CN" altLang="en-CN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7F47DFE-F46D-A18B-2D5E-1ECEFACE3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2438" y="5429836"/>
            <a:ext cx="4555162" cy="943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800" dirty="0"/>
              <a:t>K1250A mutation greatly increases the burst duration and it closes completely via the non-hydrolytic pathway</a:t>
            </a:r>
            <a:endParaRPr lang="en-CN" altLang="en-CN" sz="2000" dirty="0"/>
          </a:p>
          <a:p>
            <a:endParaRPr lang="en-CN" altLang="en-CN" dirty="0"/>
          </a:p>
        </p:txBody>
      </p:sp>
      <p:pic>
        <p:nvPicPr>
          <p:cNvPr id="22" name="Picture 21" descr="A diagram of a number of different types of lines&#10;&#10;Description automatically generated with medium confidence">
            <a:extLst>
              <a:ext uri="{FF2B5EF4-FFF2-40B4-BE49-F238E27FC236}">
                <a16:creationId xmlns:a16="http://schemas.microsoft.com/office/drawing/2014/main" id="{534DD727-484B-DD17-986C-FBD29EA44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885" y="1945885"/>
            <a:ext cx="4394079" cy="329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0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5A8D7F-DED8-C9A6-ACD1-AD72D2C5460B}"/>
              </a:ext>
            </a:extLst>
          </p:cNvPr>
          <p:cNvSpPr txBox="1">
            <a:spLocks/>
          </p:cNvSpPr>
          <p:nvPr/>
        </p:nvSpPr>
        <p:spPr bwMode="auto">
          <a:xfrm>
            <a:off x="324148" y="0"/>
            <a:ext cx="7128172" cy="64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dirty="0">
                <a:solidFill>
                  <a:schemeClr val="bg1"/>
                </a:solidFill>
              </a:rPr>
              <a:t>CFTR modulators</a:t>
            </a:r>
          </a:p>
        </p:txBody>
      </p:sp>
      <p:pic>
        <p:nvPicPr>
          <p:cNvPr id="13" name="Picture 12" descr="A computer screen shot of a dna model&#10;&#10;Description automatically generated">
            <a:extLst>
              <a:ext uri="{FF2B5EF4-FFF2-40B4-BE49-F238E27FC236}">
                <a16:creationId xmlns:a16="http://schemas.microsoft.com/office/drawing/2014/main" id="{7539848D-C206-9072-E660-1739794D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576" y="1118623"/>
            <a:ext cx="3577239" cy="426264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AFBBC1B-10F2-3CC9-81CE-0159DBF4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8" y="613897"/>
            <a:ext cx="7506031" cy="504726"/>
          </a:xfrm>
        </p:spPr>
        <p:txBody>
          <a:bodyPr/>
          <a:lstStyle/>
          <a:p>
            <a:r>
              <a:rPr lang="en-CN" sz="2400" dirty="0"/>
              <a:t>Common CFTR mutations and CFTR potentiator</a:t>
            </a:r>
          </a:p>
        </p:txBody>
      </p:sp>
      <p:pic>
        <p:nvPicPr>
          <p:cNvPr id="16" name="Picture 15" descr="A close-up of a dna model&#10;&#10;Description automatically generated">
            <a:extLst>
              <a:ext uri="{FF2B5EF4-FFF2-40B4-BE49-F238E27FC236}">
                <a16:creationId xmlns:a16="http://schemas.microsoft.com/office/drawing/2014/main" id="{BB0E8F48-C7C9-7299-D56B-AC8B7ACCA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06" y="1118623"/>
            <a:ext cx="3577240" cy="426932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DA481CDF-51CE-503C-5739-4133E8D8F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5" y="5481451"/>
            <a:ext cx="7820766" cy="1187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800" dirty="0"/>
              <a:t>VX770 increases the open probability of CFTR by stabilizing the pre-hydrolytic O</a:t>
            </a:r>
            <a:r>
              <a:rPr lang="en-US" altLang="en-CN" sz="1800" baseline="-25000" dirty="0"/>
              <a:t>1</a:t>
            </a:r>
            <a:r>
              <a:rPr lang="en-US" altLang="en-CN" sz="1800" dirty="0"/>
              <a:t> state</a:t>
            </a:r>
          </a:p>
          <a:p>
            <a:r>
              <a:rPr lang="en-US" altLang="en-CN" sz="1800" dirty="0"/>
              <a:t>VX770 is life-changing for CFTR gating defect mutations </a:t>
            </a:r>
            <a:r>
              <a:rPr lang="en-US" altLang="en-CN" sz="1800" dirty="0">
                <a:sym typeface="Wingdings" pitchFamily="2" charset="2"/>
              </a:rPr>
              <a:t> combination with correctors necessary for rescuing defective folding mutations</a:t>
            </a:r>
            <a:endParaRPr lang="en-US" altLang="en-CN" sz="1800" dirty="0"/>
          </a:p>
          <a:p>
            <a:endParaRPr lang="en-US" altLang="en-CN" sz="2000" dirty="0"/>
          </a:p>
          <a:p>
            <a:endParaRPr lang="en-US" altLang="en-CN" sz="2000" dirty="0"/>
          </a:p>
          <a:p>
            <a:endParaRPr lang="en-CN" altLang="en-CN" sz="2000" dirty="0"/>
          </a:p>
          <a:p>
            <a:endParaRPr lang="en-CN" altLang="en-CN" dirty="0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83853A17-2163-36F2-4488-C409D2A14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7151" y="1018436"/>
            <a:ext cx="1786849" cy="106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CN" sz="1100" b="1" dirty="0"/>
              <a:t>Glossary</a:t>
            </a:r>
          </a:p>
          <a:p>
            <a:pPr marL="0" indent="0">
              <a:buNone/>
            </a:pPr>
            <a:r>
              <a:rPr lang="en-US" altLang="en-CN" sz="1050" dirty="0"/>
              <a:t>VX770 (Ivacaftor)</a:t>
            </a:r>
          </a:p>
          <a:p>
            <a:pPr marL="0" indent="0">
              <a:buNone/>
            </a:pPr>
            <a:r>
              <a:rPr lang="en-US" altLang="en-CN" sz="1050" dirty="0"/>
              <a:t>-- First FDA-approved CFTR potentiator for G551D mutation </a:t>
            </a:r>
          </a:p>
        </p:txBody>
      </p:sp>
    </p:spTree>
    <p:extLst>
      <p:ext uri="{BB962C8B-B14F-4D97-AF65-F5344CB8AC3E}">
        <p14:creationId xmlns:p14="http://schemas.microsoft.com/office/powerpoint/2010/main" val="20756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C35D-BDC2-6B11-84F6-B0C8B986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13" y="648742"/>
            <a:ext cx="7506031" cy="504726"/>
          </a:xfrm>
        </p:spPr>
        <p:txBody>
          <a:bodyPr/>
          <a:lstStyle/>
          <a:p>
            <a:r>
              <a:rPr lang="en-CN" sz="2400" dirty="0"/>
              <a:t>CFTR correctors in combination with potentiators </a:t>
            </a:r>
          </a:p>
        </p:txBody>
      </p:sp>
      <p:pic>
        <p:nvPicPr>
          <p:cNvPr id="4" name="Picture 3" descr="A close-up of several colorful strands&#10;&#10;Description automatically generated">
            <a:extLst>
              <a:ext uri="{FF2B5EF4-FFF2-40B4-BE49-F238E27FC236}">
                <a16:creationId xmlns:a16="http://schemas.microsoft.com/office/drawing/2014/main" id="{72C0E2CF-D957-A3CB-48AB-0B2D033D6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8" y="1114280"/>
            <a:ext cx="7507635" cy="421974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75EF618-D604-B1C1-ED95-9DB97AF61348}"/>
              </a:ext>
            </a:extLst>
          </p:cNvPr>
          <p:cNvSpPr txBox="1">
            <a:spLocks/>
          </p:cNvSpPr>
          <p:nvPr/>
        </p:nvSpPr>
        <p:spPr bwMode="auto">
          <a:xfrm>
            <a:off x="324148" y="0"/>
            <a:ext cx="7128172" cy="64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dirty="0">
                <a:solidFill>
                  <a:schemeClr val="bg1"/>
                </a:solidFill>
              </a:rPr>
              <a:t>CFTR modulators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AE0043B9-4CD0-78A2-EC7B-C860C4C58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293" y="1114280"/>
            <a:ext cx="1669227" cy="245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CN" sz="1100" b="1" dirty="0"/>
              <a:t>Glossary</a:t>
            </a:r>
          </a:p>
          <a:p>
            <a:pPr marL="0" indent="0">
              <a:buNone/>
            </a:pPr>
            <a:r>
              <a:rPr lang="en-US" altLang="en-CN" sz="1100" dirty="0"/>
              <a:t>Trikafta – Approved by FDA for patients with one copy of F508del</a:t>
            </a:r>
          </a:p>
          <a:p>
            <a:pPr marL="0" indent="0">
              <a:buNone/>
            </a:pPr>
            <a:endParaRPr lang="en-US" altLang="en-CN" sz="1100" dirty="0"/>
          </a:p>
          <a:p>
            <a:pPr marL="0" indent="0">
              <a:buNone/>
            </a:pPr>
            <a:r>
              <a:rPr lang="en-US" altLang="en-CN" sz="1050" dirty="0"/>
              <a:t>VX-661 (Tezacaftor) – Type I corrector</a:t>
            </a:r>
          </a:p>
          <a:p>
            <a:pPr marL="0" indent="0">
              <a:buNone/>
            </a:pPr>
            <a:endParaRPr lang="en-US" altLang="en-CN" sz="1050" dirty="0"/>
          </a:p>
          <a:p>
            <a:pPr marL="0" indent="0">
              <a:buNone/>
            </a:pPr>
            <a:r>
              <a:rPr lang="en-US" altLang="en-CN" sz="1050" dirty="0"/>
              <a:t>VX-445 (Elexacaftor) – Type III corrector</a:t>
            </a:r>
          </a:p>
          <a:p>
            <a:pPr marL="0" indent="0">
              <a:buNone/>
            </a:pPr>
            <a:endParaRPr lang="en-US" altLang="en-CN" sz="1050" dirty="0"/>
          </a:p>
          <a:p>
            <a:pPr marL="0" indent="0">
              <a:buNone/>
            </a:pPr>
            <a:r>
              <a:rPr lang="en-US" altLang="en-CN" sz="1050" dirty="0"/>
              <a:t>VX-770 (Ivacaftor) – Potentiator</a:t>
            </a:r>
          </a:p>
          <a:p>
            <a:pPr marL="0" indent="0">
              <a:buNone/>
            </a:pPr>
            <a:endParaRPr lang="en-US" altLang="en-CN" sz="1050" dirty="0"/>
          </a:p>
          <a:p>
            <a:pPr>
              <a:buFont typeface="Wingdings" pitchFamily="2" charset="2"/>
              <a:buChar char="n"/>
            </a:pPr>
            <a:endParaRPr lang="en-US" altLang="en-CN" sz="1050" dirty="0"/>
          </a:p>
          <a:p>
            <a:pPr marL="0" indent="0">
              <a:buNone/>
            </a:pPr>
            <a:endParaRPr lang="en-US" altLang="en-CN" sz="1050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D61B2E4-28DC-E20D-12EC-8A5D6F01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4" y="5481451"/>
            <a:ext cx="7964781" cy="13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1800" dirty="0"/>
              <a:t>Trikafta = VX-770 + VX-661 + VX-445</a:t>
            </a:r>
          </a:p>
          <a:p>
            <a:r>
              <a:rPr lang="en-US" altLang="en-CN" sz="1800" dirty="0"/>
              <a:t>VX-661 and VX-445 act synergistically and greatly improve the biogenesis of CFTR</a:t>
            </a:r>
          </a:p>
          <a:p>
            <a:r>
              <a:rPr lang="en-US" altLang="en-CN" sz="1800" dirty="0"/>
              <a:t>Trikafta greatly improves lung function of F508del patients</a:t>
            </a:r>
          </a:p>
          <a:p>
            <a:endParaRPr lang="en-US" altLang="en-CN" sz="1800" dirty="0"/>
          </a:p>
          <a:p>
            <a:endParaRPr lang="en-US" altLang="en-CN" sz="1800" dirty="0"/>
          </a:p>
          <a:p>
            <a:endParaRPr lang="en-US" altLang="en-CN" sz="2000" dirty="0"/>
          </a:p>
          <a:p>
            <a:endParaRPr lang="en-US" altLang="en-CN" sz="2000" dirty="0"/>
          </a:p>
          <a:p>
            <a:endParaRPr lang="en-CN" altLang="en-CN" sz="2000" dirty="0"/>
          </a:p>
          <a:p>
            <a:endParaRPr lang="en-CN" altLang="en-CN" dirty="0"/>
          </a:p>
        </p:txBody>
      </p:sp>
    </p:spTree>
    <p:extLst>
      <p:ext uri="{BB962C8B-B14F-4D97-AF65-F5344CB8AC3E}">
        <p14:creationId xmlns:p14="http://schemas.microsoft.com/office/powerpoint/2010/main" val="8863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D2EF9-CA9B-31EC-2787-7BC8C0F2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 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4098" name="Picture 2" descr="4,562 Any Questions Images, Stock Photos, 3D objects, &amp; Vectors |  Shutterstock">
            <a:extLst>
              <a:ext uri="{FF2B5EF4-FFF2-40B4-BE49-F238E27FC236}">
                <a16:creationId xmlns:a16="http://schemas.microsoft.com/office/drawing/2014/main" id="{5C5B91B1-24EB-F7CC-6BAE-2B6DD814E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2987" y="1679686"/>
            <a:ext cx="5085525" cy="349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7123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5">
      <a:dk1>
        <a:srgbClr val="000000"/>
      </a:dk1>
      <a:lt1>
        <a:srgbClr val="FFFFFF"/>
      </a:lt1>
      <a:dk2>
        <a:srgbClr val="5A1B31"/>
      </a:dk2>
      <a:lt2>
        <a:srgbClr val="808080"/>
      </a:lt2>
      <a:accent1>
        <a:srgbClr val="7FA1AC"/>
      </a:accent1>
      <a:accent2>
        <a:srgbClr val="C88BA9"/>
      </a:accent2>
      <a:accent3>
        <a:srgbClr val="FFFFFF"/>
      </a:accent3>
      <a:accent4>
        <a:srgbClr val="000000"/>
      </a:accent4>
      <a:accent5>
        <a:srgbClr val="C0CDD2"/>
      </a:accent5>
      <a:accent6>
        <a:srgbClr val="B57D99"/>
      </a:accent6>
      <a:hlink>
        <a:srgbClr val="4B4620"/>
      </a:hlink>
      <a:folHlink>
        <a:srgbClr val="B25D86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4359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5">
        <a:dk1>
          <a:srgbClr val="000000"/>
        </a:dk1>
        <a:lt1>
          <a:srgbClr val="FFFFFF"/>
        </a:lt1>
        <a:dk2>
          <a:srgbClr val="5A1B31"/>
        </a:dk2>
        <a:lt2>
          <a:srgbClr val="808080"/>
        </a:lt2>
        <a:accent1>
          <a:srgbClr val="7FA1AC"/>
        </a:accent1>
        <a:accent2>
          <a:srgbClr val="C88BA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B57D99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5175</TotalTime>
  <Words>926</Words>
  <Application>Microsoft Macintosh PowerPoint</Application>
  <PresentationFormat>On-screen Show (4:3)</PresentationFormat>
  <Paragraphs>132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Noto Serif</vt:lpstr>
      <vt:lpstr>Times New Roman</vt:lpstr>
      <vt:lpstr>Wingdings</vt:lpstr>
      <vt:lpstr>Custom Design</vt:lpstr>
      <vt:lpstr>Deciphering the molecular basis and pharmacotherapy of Cystic Fibrosis</vt:lpstr>
      <vt:lpstr>Introduction to CFTR</vt:lpstr>
      <vt:lpstr>CFTR mechanism of opening</vt:lpstr>
      <vt:lpstr>ATP-dependent dimerization of NBDs drives CFTR channel opening</vt:lpstr>
      <vt:lpstr>ATP hydrolysis and gating cycles</vt:lpstr>
      <vt:lpstr>Common CFTR mutations and CFTR potentiator</vt:lpstr>
      <vt:lpstr>CFTR correctors in combination with potentiators </vt:lpstr>
      <vt:lpstr>Thank you!   Q&amp;A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Simon Brown</dc:creator>
  <cp:lastModifiedBy>Fan, Zheheng</cp:lastModifiedBy>
  <cp:revision>37</cp:revision>
  <dcterms:created xsi:type="dcterms:W3CDTF">2005-07-13T12:26:50Z</dcterms:created>
  <dcterms:modified xsi:type="dcterms:W3CDTF">2025-05-25T18:54:59Z</dcterms:modified>
</cp:coreProperties>
</file>