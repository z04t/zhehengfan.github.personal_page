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0"/>
  </p:notesMasterIdLst>
  <p:sldIdLst>
    <p:sldId id="256" r:id="rId2"/>
    <p:sldId id="262" r:id="rId3"/>
    <p:sldId id="267" r:id="rId4"/>
    <p:sldId id="264" r:id="rId5"/>
    <p:sldId id="265" r:id="rId6"/>
    <p:sldId id="268" r:id="rId7"/>
    <p:sldId id="266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8">
          <p15:clr>
            <a:srgbClr val="A4A3A4"/>
          </p15:clr>
        </p15:guide>
        <p15:guide id="2" orient="horz" pos="1706">
          <p15:clr>
            <a:srgbClr val="A4A3A4"/>
          </p15:clr>
        </p15:guide>
        <p15:guide id="3" orient="horz" pos="2840">
          <p15:clr>
            <a:srgbClr val="A4A3A4"/>
          </p15:clr>
        </p15:guide>
        <p15:guide id="4" orient="horz" pos="3884">
          <p15:clr>
            <a:srgbClr val="A4A3A4"/>
          </p15:clr>
        </p15:guide>
        <p15:guide id="5" pos="208">
          <p15:clr>
            <a:srgbClr val="A4A3A4"/>
          </p15:clr>
        </p15:guide>
        <p15:guide id="6" pos="2018">
          <p15:clr>
            <a:srgbClr val="A4A3A4"/>
          </p15:clr>
        </p15:guide>
        <p15:guide id="7" pos="5556">
          <p15:clr>
            <a:srgbClr val="A4A3A4"/>
          </p15:clr>
        </p15:guide>
        <p15:guide id="8" pos="37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8139"/>
  </p:normalViewPr>
  <p:slideViewPr>
    <p:cSldViewPr>
      <p:cViewPr varScale="1">
        <p:scale>
          <a:sx n="107" d="100"/>
          <a:sy n="107" d="100"/>
        </p:scale>
        <p:origin x="1840" y="168"/>
      </p:cViewPr>
      <p:guideLst>
        <p:guide orient="horz" pos="578"/>
        <p:guide orient="horz" pos="1706"/>
        <p:guide orient="horz" pos="2840"/>
        <p:guide orient="horz" pos="3884"/>
        <p:guide pos="208"/>
        <p:guide pos="2018"/>
        <p:guide pos="5556"/>
        <p:guide pos="37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FF9F5-3653-9D44-8F82-DBEB0242E26D}" type="datetimeFigureOut">
              <a:rPr lang="en-CN" smtClean="0"/>
              <a:t>6/1/25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8857D-6C9B-724E-97A7-F10215BA7C0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92634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I am going to introduce my project on monocarboxylate transporters, which mediate the metabolic communication between different stem cell lineages in Drosophila Testis.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4674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CN" sz="1200" dirty="0"/>
              <a:t>Two lineages of stem cells: GSC and </a:t>
            </a:r>
            <a:r>
              <a:rPr lang="en-US" altLang="en-CN" sz="1200" dirty="0" err="1"/>
              <a:t>CySC</a:t>
            </a:r>
            <a:endParaRPr lang="en-US" altLang="en-CN" sz="1200" dirty="0"/>
          </a:p>
          <a:p>
            <a:r>
              <a:rPr lang="en-US" altLang="en-CN" sz="1200" dirty="0"/>
              <a:t>Drosophila brain: between glial cells and neurons. Human spermatogenesis: Sertoli cells and germ cells</a:t>
            </a:r>
            <a:endParaRPr lang="en-GB" altLang="en-CN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863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EF76-F3F1-1EC2-AB48-9AB7CFB4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7769A-91FF-AF13-390C-061B84DFE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4689C-437C-04FC-9B44-CD67E7DFE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CN" sz="1200" dirty="0"/>
          </a:p>
          <a:p>
            <a:endParaRPr lang="en-US" altLang="en-CN" sz="12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12606-E2DA-67A6-0624-057EB3E1C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40635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FC27-E1AD-CC81-8066-46E65C65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453C4-FFDA-98CD-2B47-03F549E45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88085-C5E4-B2D0-AE6A-4855B20F8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CN" sz="1200" dirty="0"/>
          </a:p>
          <a:p>
            <a:endParaRPr lang="en-US" altLang="en-CN" sz="12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86C5A-6A3E-C99C-5EB3-A46727019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90572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BDC0D-CEF1-A6D3-F9E9-B78CF2593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86EAC-B2B1-82F3-E34D-EC2CF53DA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A7B4E-544F-8577-5D91-10CD9F615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CN" sz="1200" dirty="0"/>
          </a:p>
          <a:p>
            <a:endParaRPr lang="en-US" altLang="en-CN" sz="12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687D6-F0CE-2DAC-600F-8079F698E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195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3EA17-F3E5-9679-865D-5207B736F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3EA29-38C4-371C-AFB2-5AD8ECFFA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41B2C-D98E-AF34-0ADF-82E72D436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CN" sz="1200" dirty="0"/>
          </a:p>
          <a:p>
            <a:endParaRPr lang="en-US" altLang="en-CN" sz="12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1C759-25A1-6F7E-CEF9-7B7CEF36F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9062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981A3-D65E-DEC0-428C-1B23A85BB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46C31-EA81-68A4-AC33-C2499A52C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631EE-A95A-2E0A-43E1-EF4308573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CN" sz="1200" dirty="0"/>
          </a:p>
          <a:p>
            <a:endParaRPr lang="en-US" altLang="en-CN" sz="12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7F074-FA18-0E4F-180D-C0FDB17D5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8857D-6C9B-724E-97A7-F10215BA7C02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08827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A4BE1C-C580-0135-4490-AC4A22E123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23850" y="1484313"/>
            <a:ext cx="8496300" cy="1368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CN" noProof="0"/>
              <a:t>Click to edit Master title style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61BACBB-DDAF-041A-4562-5A445537CD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3068638"/>
            <a:ext cx="8496300" cy="3097212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en-CN" noProof="0"/>
              <a:t>Click to edit Master subtitle style</a:t>
            </a: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677ACC73-F513-2069-870C-B45095B770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850" y="6245225"/>
            <a:ext cx="84963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CN"/>
          </a:p>
        </p:txBody>
      </p:sp>
      <p:pic>
        <p:nvPicPr>
          <p:cNvPr id="4112" name="Picture 16">
            <a:extLst>
              <a:ext uri="{FF2B5EF4-FFF2-40B4-BE49-F238E27FC236}">
                <a16:creationId xmlns:a16="http://schemas.microsoft.com/office/drawing/2014/main" id="{7D3FD2FA-7491-0A25-B25E-AC82F9AAF7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5CE25-BBEC-3D12-9342-5D7B63B2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DF5A6-B2AB-740B-AEDD-193D496E0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C5283-7036-9958-F0CE-4DB58448F0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C6C64D-9E09-B24F-AB99-CC926E2A399D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43498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A555-38FA-EE95-69E4-22A9FAA5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73782-BDFF-CFBD-D1F7-83817C29D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43DDE-989B-B6E7-1FDB-832E4B32C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FCBF8C-2847-A849-B60D-02B934AEF364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303971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78FB-791B-B47F-36CF-AE9B6772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1FBFC-6129-6F19-A9B2-5F3B26F03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200" y="2708275"/>
            <a:ext cx="4168775" cy="3457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71754-81D7-395A-49E8-4E0DA4A8A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1375" y="2708275"/>
            <a:ext cx="4168775" cy="3457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554DE-B57D-61FA-4DEF-8079E0E23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ED17F2A-F905-1A43-A481-9EC15416BA0B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2353746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33A7-BB5C-D0A0-F0E9-5FD47CD83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752B7-60D2-0424-060E-1CFFD7F78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65743-0BEC-C095-83E6-8C513EE67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09CC67-02D0-DED1-E744-B54FADAA4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31399-79BF-CE97-235E-D25C27485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25269-B42A-B822-EAE9-8139316074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4127FCF-4B28-B74E-AA76-D107434C5A8F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70494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4E96-7ADF-7491-F150-37A13585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1767F9-68DA-0CD0-D06E-D2E6BA4F9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4B382FF-CC9E-9048-B2D6-163A8615FAEF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2362038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6111E7-BFE2-B387-70E6-79B18D069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BFB5D-B62D-BB49-BAC2-9BCFB5693F17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128192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1046-A0CC-4BDA-0849-C1D803630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00A94-9005-9396-9F50-6E16D125A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1D37C-3038-5FE1-E9EC-8F40C8A8A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52CE9-99E9-E272-AB14-38CCB75B0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192C433-55CB-1A4C-BDDE-B5AB41D5AB55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113292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468D-8061-F2A5-B1F3-9BBE587A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8714B-5E12-0649-D439-E12CC188C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89DC2-AB7E-E019-4B19-C2F957610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FDFC0-85D7-42D5-952A-C127BCE4C3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BF1239-0F88-DC43-B2C1-C7AA21BB4B17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368875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E47C-9286-AD9E-1B38-D64A51AC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509CD-1251-373C-F832-67752E13B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6EEA1-04D8-9C59-EF90-21A810692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15CE305-1C6C-BB4B-9B02-49550B2A25FC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93549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7D9BE4-81CE-96D8-B858-B1A85DFA3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97663" y="908050"/>
            <a:ext cx="2122487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6205F-1C30-C37B-2B0F-A29B8A9F4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0200" y="908050"/>
            <a:ext cx="6215063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106B8-4BEE-8868-9A25-FBAD3FF1B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7DBCD0-5567-0C4C-8919-9576DAFBCA3E}" type="slidenum">
              <a:rPr lang="en-US" altLang="en-CN"/>
              <a:pPr/>
              <a:t>‹#›</a:t>
            </a:fld>
            <a:endParaRPr lang="en-US" altLang="en-CN"/>
          </a:p>
        </p:txBody>
      </p:sp>
    </p:spTree>
    <p:extLst>
      <p:ext uri="{BB962C8B-B14F-4D97-AF65-F5344CB8AC3E}">
        <p14:creationId xmlns:p14="http://schemas.microsoft.com/office/powerpoint/2010/main" val="3998243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7260A3C-6B5A-BE29-5B7B-B44D1CA4C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0200" y="908050"/>
            <a:ext cx="8489950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CN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E94EB20-8635-F3DC-C45C-9C62BFAE7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0200" y="2708275"/>
            <a:ext cx="8489950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CN"/>
              <a:t>Click to edit Master text styles</a:t>
            </a:r>
          </a:p>
          <a:p>
            <a:pPr lvl="1"/>
            <a:r>
              <a:rPr lang="en-US" altLang="en-CN"/>
              <a:t>Second level</a:t>
            </a:r>
          </a:p>
          <a:p>
            <a:pPr lvl="2"/>
            <a:r>
              <a:rPr lang="en-US" altLang="en-CN"/>
              <a:t>Third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2DB11224-5B5E-352C-5142-412A7BE056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337300"/>
            <a:ext cx="1008062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BFB9EBE-1033-5F48-B5CD-59F1E4A8E933}" type="slidenum">
              <a:rPr lang="en-US" altLang="en-CN"/>
              <a:pPr/>
              <a:t>‹#›</a:t>
            </a:fld>
            <a:endParaRPr lang="en-US" altLang="en-CN"/>
          </a:p>
        </p:txBody>
      </p:sp>
      <p:pic>
        <p:nvPicPr>
          <p:cNvPr id="3088" name="Picture 16">
            <a:extLst>
              <a:ext uri="{FF2B5EF4-FFF2-40B4-BE49-F238E27FC236}">
                <a16:creationId xmlns:a16="http://schemas.microsoft.com/office/drawing/2014/main" id="{E734F110-C447-8DC8-9775-B1DDEDC581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F519D9-7824-D6E8-D418-5B4BFABA61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9860" y="1331521"/>
            <a:ext cx="8496300" cy="1008112"/>
          </a:xfrm>
        </p:spPr>
        <p:txBody>
          <a:bodyPr/>
          <a:lstStyle/>
          <a:p>
            <a:pPr algn="ctr"/>
            <a:r>
              <a:rPr lang="en-US" altLang="en-CN" dirty="0"/>
              <a:t>The Role of Monocarboxylate Transporters in Germ Cell Survival in Drosophila Testis</a:t>
            </a:r>
            <a:endParaRPr lang="en-CN" altLang="en-CN" dirty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BC5E492-560E-0F63-E151-B52534701F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75916" y="5732934"/>
            <a:ext cx="4392166" cy="1152450"/>
          </a:xfrm>
        </p:spPr>
        <p:txBody>
          <a:bodyPr/>
          <a:lstStyle/>
          <a:p>
            <a:pPr algn="ctr"/>
            <a:r>
              <a:rPr lang="en-CN" altLang="en-CN" sz="2000"/>
              <a:t>Zheheng</a:t>
            </a:r>
            <a:r>
              <a:rPr lang="zh-CN" altLang="en-US" sz="2000" dirty="0"/>
              <a:t> </a:t>
            </a:r>
            <a:r>
              <a:rPr lang="en-US" altLang="zh-CN" sz="2000" dirty="0"/>
              <a:t>Fan </a:t>
            </a:r>
            <a:endParaRPr lang="en-CN" altLang="zh-CN" sz="2000"/>
          </a:p>
          <a:p>
            <a:pPr algn="ctr"/>
            <a:r>
              <a:rPr lang="en-US" sz="2000" dirty="0"/>
              <a:t>Biomedical Sciences </a:t>
            </a:r>
            <a:r>
              <a:rPr lang="en-US" sz="2000" i="1" dirty="0"/>
              <a:t>BSc.</a:t>
            </a:r>
          </a:p>
          <a:p>
            <a:pPr algn="ctr"/>
            <a:r>
              <a:rPr lang="en-US" altLang="zh-CN" sz="2000" dirty="0"/>
              <a:t>Supervisor: Dr. Marc </a:t>
            </a:r>
            <a:r>
              <a:rPr lang="en-US" altLang="zh-CN" sz="2000" dirty="0" err="1"/>
              <a:t>Amoyel</a:t>
            </a:r>
            <a:endParaRPr lang="en-US" altLang="zh-CN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65A23-3580-DBE7-5F43-9BD79E24A9D7}"/>
              </a:ext>
            </a:extLst>
          </p:cNvPr>
          <p:cNvSpPr txBox="1">
            <a:spLocks/>
          </p:cNvSpPr>
          <p:nvPr/>
        </p:nvSpPr>
        <p:spPr bwMode="auto">
          <a:xfrm>
            <a:off x="323850" y="151978"/>
            <a:ext cx="5681960" cy="1008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CN" sz="2800" dirty="0">
                <a:solidFill>
                  <a:schemeClr val="bg1"/>
                </a:solidFill>
              </a:rPr>
              <a:t>Division of Bios</a:t>
            </a:r>
            <a:r>
              <a:rPr lang="en-GB" sz="2800" dirty="0">
                <a:solidFill>
                  <a:schemeClr val="bg1"/>
                </a:solidFill>
              </a:rPr>
              <a:t>ci</a:t>
            </a:r>
            <a:r>
              <a:rPr lang="en-CN" sz="2800" dirty="0">
                <a:solidFill>
                  <a:schemeClr val="bg1"/>
                </a:solidFill>
              </a:rPr>
              <a:t>ences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ANAT0015</a:t>
            </a:r>
            <a:r>
              <a:rPr lang="en-CN" sz="2800">
                <a:solidFill>
                  <a:schemeClr val="bg1"/>
                </a:solidFill>
              </a:rPr>
              <a:t> </a:t>
            </a:r>
            <a:r>
              <a:rPr lang="en-CN" sz="2800" dirty="0">
                <a:solidFill>
                  <a:schemeClr val="bg1"/>
                </a:solidFill>
              </a:rPr>
              <a:t>presentation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48378F-7854-9E43-CC2E-EE9ACE25F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912193" y="1852120"/>
            <a:ext cx="3291634" cy="4386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75EF618-D604-B1C1-ED95-9DB97AF61348}"/>
              </a:ext>
            </a:extLst>
          </p:cNvPr>
          <p:cNvSpPr txBox="1">
            <a:spLocks/>
          </p:cNvSpPr>
          <p:nvPr/>
        </p:nvSpPr>
        <p:spPr bwMode="auto">
          <a:xfrm>
            <a:off x="35496" y="72008"/>
            <a:ext cx="7488212" cy="69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i="1" dirty="0">
                <a:solidFill>
                  <a:schemeClr val="bg1"/>
                </a:solidFill>
              </a:rPr>
              <a:t>Drosophila</a:t>
            </a:r>
            <a:r>
              <a:rPr lang="en-US" sz="2000" dirty="0">
                <a:solidFill>
                  <a:schemeClr val="bg1"/>
                </a:solidFill>
              </a:rPr>
              <a:t> Testis as a model to study tissue homeostasis</a:t>
            </a:r>
            <a:endParaRPr lang="en-CN" sz="20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D75DB8-6A78-AC12-7ABF-7EE75C9DD79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t="1837" r="34363"/>
          <a:stretch/>
        </p:blipFill>
        <p:spPr>
          <a:xfrm>
            <a:off x="159260" y="763291"/>
            <a:ext cx="4313810" cy="4464496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0" name="Picture 9" descr="A close up of a round object&#10;&#10;Description automatically generated">
            <a:extLst>
              <a:ext uri="{FF2B5EF4-FFF2-40B4-BE49-F238E27FC236}">
                <a16:creationId xmlns:a16="http://schemas.microsoft.com/office/drawing/2014/main" id="{2B72B0FE-D880-9F97-D606-33FCD9749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511833" y="764704"/>
            <a:ext cx="4464496" cy="44644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963EF5-D073-74A8-7959-1D24DB7C6F05}"/>
              </a:ext>
            </a:extLst>
          </p:cNvPr>
          <p:cNvSpPr txBox="1"/>
          <p:nvPr/>
        </p:nvSpPr>
        <p:spPr>
          <a:xfrm>
            <a:off x="7930329" y="4273680"/>
            <a:ext cx="1268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Vasa</a:t>
            </a:r>
          </a:p>
          <a:p>
            <a:r>
              <a:rPr lang="en-GB" sz="1400" dirty="0" err="1">
                <a:solidFill>
                  <a:srgbClr val="FF4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Zfh</a:t>
            </a:r>
            <a:r>
              <a:rPr lang="en-US" altLang="zh-CN" sz="1400" dirty="0">
                <a:solidFill>
                  <a:srgbClr val="FF4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GB" sz="1400" dirty="0">
              <a:solidFill>
                <a:srgbClr val="FF4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400" dirty="0" err="1">
                <a:solidFill>
                  <a:srgbClr val="00FD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</a:t>
            </a:r>
            <a:r>
              <a:rPr lang="en-US" altLang="zh-CN" sz="1400" dirty="0">
                <a:solidFill>
                  <a:srgbClr val="00FD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Eya</a:t>
            </a:r>
          </a:p>
          <a:p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Lysotracker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D020697-C43E-6C6B-AE24-E31BD33BE66A}"/>
              </a:ext>
            </a:extLst>
          </p:cNvPr>
          <p:cNvSpPr>
            <a:spLocks noChangeAspect="1"/>
          </p:cNvSpPr>
          <p:nvPr/>
        </p:nvSpPr>
        <p:spPr>
          <a:xfrm>
            <a:off x="4511833" y="1283213"/>
            <a:ext cx="4464496" cy="1975417"/>
          </a:xfrm>
          <a:custGeom>
            <a:avLst/>
            <a:gdLst>
              <a:gd name="connsiteX0" fmla="*/ 0 w 5753501"/>
              <a:gd name="connsiteY0" fmla="*/ 2042185 h 2545767"/>
              <a:gd name="connsiteX1" fmla="*/ 410817 w 5753501"/>
              <a:gd name="connsiteY1" fmla="*/ 1339820 h 2545767"/>
              <a:gd name="connsiteX2" fmla="*/ 980661 w 5753501"/>
              <a:gd name="connsiteY2" fmla="*/ 822985 h 2545767"/>
              <a:gd name="connsiteX3" fmla="*/ 1524000 w 5753501"/>
              <a:gd name="connsiteY3" fmla="*/ 478428 h 2545767"/>
              <a:gd name="connsiteX4" fmla="*/ 2305878 w 5753501"/>
              <a:gd name="connsiteY4" fmla="*/ 14602 h 2545767"/>
              <a:gd name="connsiteX5" fmla="*/ 2928730 w 5753501"/>
              <a:gd name="connsiteY5" fmla="*/ 107367 h 2545767"/>
              <a:gd name="connsiteX6" fmla="*/ 3710609 w 5753501"/>
              <a:gd name="connsiteY6" fmla="*/ 239889 h 2545767"/>
              <a:gd name="connsiteX7" fmla="*/ 4280452 w 5753501"/>
              <a:gd name="connsiteY7" fmla="*/ 677211 h 2545767"/>
              <a:gd name="connsiteX8" fmla="*/ 4784035 w 5753501"/>
              <a:gd name="connsiteY8" fmla="*/ 1114533 h 2545767"/>
              <a:gd name="connsiteX9" fmla="*/ 5247861 w 5753501"/>
              <a:gd name="connsiteY9" fmla="*/ 1631367 h 2545767"/>
              <a:gd name="connsiteX10" fmla="*/ 5751443 w 5753501"/>
              <a:gd name="connsiteY10" fmla="*/ 2545767 h 2545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53501" h="2545767">
                <a:moveTo>
                  <a:pt x="0" y="2042185"/>
                </a:moveTo>
                <a:cubicBezTo>
                  <a:pt x="123686" y="1792602"/>
                  <a:pt x="247373" y="1543020"/>
                  <a:pt x="410817" y="1339820"/>
                </a:cubicBezTo>
                <a:cubicBezTo>
                  <a:pt x="574261" y="1136620"/>
                  <a:pt x="795131" y="966550"/>
                  <a:pt x="980661" y="822985"/>
                </a:cubicBezTo>
                <a:cubicBezTo>
                  <a:pt x="1166191" y="679420"/>
                  <a:pt x="1303131" y="613158"/>
                  <a:pt x="1524000" y="478428"/>
                </a:cubicBezTo>
                <a:cubicBezTo>
                  <a:pt x="1744869" y="343698"/>
                  <a:pt x="2071756" y="76445"/>
                  <a:pt x="2305878" y="14602"/>
                </a:cubicBezTo>
                <a:cubicBezTo>
                  <a:pt x="2540000" y="-47242"/>
                  <a:pt x="2928730" y="107367"/>
                  <a:pt x="2928730" y="107367"/>
                </a:cubicBezTo>
                <a:cubicBezTo>
                  <a:pt x="3162852" y="144915"/>
                  <a:pt x="3485322" y="144915"/>
                  <a:pt x="3710609" y="239889"/>
                </a:cubicBezTo>
                <a:cubicBezTo>
                  <a:pt x="3935896" y="334863"/>
                  <a:pt x="4101548" y="531437"/>
                  <a:pt x="4280452" y="677211"/>
                </a:cubicBezTo>
                <a:cubicBezTo>
                  <a:pt x="4459356" y="822985"/>
                  <a:pt x="4622800" y="955507"/>
                  <a:pt x="4784035" y="1114533"/>
                </a:cubicBezTo>
                <a:cubicBezTo>
                  <a:pt x="4945270" y="1273559"/>
                  <a:pt x="5086626" y="1392828"/>
                  <a:pt x="5247861" y="1631367"/>
                </a:cubicBezTo>
                <a:cubicBezTo>
                  <a:pt x="5409096" y="1869906"/>
                  <a:pt x="5784573" y="2441958"/>
                  <a:pt x="5751443" y="2545767"/>
                </a:cubicBezTo>
              </a:path>
            </a:pathLst>
          </a:custGeom>
          <a:noFill/>
          <a:ln w="412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39FCAC-DE0A-3729-C1DA-F47BC9DCCE11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5738566" y="1143465"/>
            <a:ext cx="753714" cy="22023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D77C722-2244-35A6-4D36-6B0CDB94F641}"/>
              </a:ext>
            </a:extLst>
          </p:cNvPr>
          <p:cNvSpPr txBox="1">
            <a:spLocks noChangeAspect="1"/>
          </p:cNvSpPr>
          <p:nvPr/>
        </p:nvSpPr>
        <p:spPr>
          <a:xfrm>
            <a:off x="5245711" y="937498"/>
            <a:ext cx="852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  <a:latin typeface="+mn-lt"/>
                <a:cs typeface="Times New Roman" panose="02020603050405020304" pitchFamily="18" charset="0"/>
              </a:rPr>
              <a:t>GSC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605A48-AE0E-9F9A-05FC-FC5AEF34E659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5353624" y="1483054"/>
            <a:ext cx="951193" cy="47802"/>
          </a:xfrm>
          <a:prstGeom prst="line">
            <a:avLst/>
          </a:prstGeom>
          <a:ln>
            <a:solidFill>
              <a:srgbClr val="FF4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6D4632B-94EE-58D9-EA29-5F3508E1CCB8}"/>
              </a:ext>
            </a:extLst>
          </p:cNvPr>
          <p:cNvSpPr txBox="1">
            <a:spLocks noChangeAspect="1"/>
          </p:cNvSpPr>
          <p:nvPr/>
        </p:nvSpPr>
        <p:spPr>
          <a:xfrm>
            <a:off x="4768292" y="1370195"/>
            <a:ext cx="852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 err="1">
                <a:solidFill>
                  <a:srgbClr val="FF40FF"/>
                </a:solidFill>
                <a:latin typeface="+mn-lt"/>
                <a:cs typeface="Times New Roman" panose="02020603050405020304" pitchFamily="18" charset="0"/>
              </a:rPr>
              <a:t>CySC</a:t>
            </a:r>
            <a:endParaRPr lang="en-GB" sz="1400" b="1" dirty="0">
              <a:solidFill>
                <a:srgbClr val="FF40FF"/>
              </a:solidFill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12A67F-4B4F-7E3E-3CC0-A93FCA4D7F32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708660" y="1880885"/>
            <a:ext cx="832587" cy="1374065"/>
          </a:xfrm>
          <a:prstGeom prst="line">
            <a:avLst/>
          </a:prstGeom>
          <a:ln>
            <a:solidFill>
              <a:srgbClr val="00FDFF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C884D6A-89CD-BA95-E1FD-43D3B87D7DFC}"/>
              </a:ext>
            </a:extLst>
          </p:cNvPr>
          <p:cNvSpPr txBox="1">
            <a:spLocks noChangeAspect="1"/>
          </p:cNvSpPr>
          <p:nvPr/>
        </p:nvSpPr>
        <p:spPr>
          <a:xfrm>
            <a:off x="6442841" y="748845"/>
            <a:ext cx="685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FDFF"/>
                </a:solidFill>
                <a:latin typeface="+mn-lt"/>
                <a:cs typeface="Times New Roman" panose="02020603050405020304" pitchFamily="18" charset="0"/>
              </a:rPr>
              <a:t>Hub</a:t>
            </a:r>
            <a:endParaRPr lang="en-GB" sz="1400" b="1" dirty="0"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592301-AAD6-CB15-135F-69E825493BEE}"/>
              </a:ext>
            </a:extLst>
          </p:cNvPr>
          <p:cNvSpPr txBox="1">
            <a:spLocks noChangeAspect="1"/>
          </p:cNvSpPr>
          <p:nvPr/>
        </p:nvSpPr>
        <p:spPr>
          <a:xfrm>
            <a:off x="7029646" y="823820"/>
            <a:ext cx="11582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Dying</a:t>
            </a:r>
            <a:r>
              <a:rPr lang="zh-CN" altLang="en-US" sz="1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Germ</a:t>
            </a:r>
            <a:r>
              <a:rPr lang="zh-CN" altLang="en-US" sz="1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Cyst</a:t>
            </a:r>
            <a:endParaRPr lang="en-GB" sz="1400" b="1" dirty="0">
              <a:latin typeface="+mn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B0CFC9-866B-14C3-AFD8-FB447ECA1219}"/>
              </a:ext>
            </a:extLst>
          </p:cNvPr>
          <p:cNvSpPr txBox="1"/>
          <p:nvPr/>
        </p:nvSpPr>
        <p:spPr>
          <a:xfrm>
            <a:off x="7647531" y="1347040"/>
            <a:ext cx="1551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FDFF"/>
                </a:solidFill>
                <a:latin typeface="+mn-lt"/>
                <a:cs typeface="Times New Roman" panose="02020603050405020304" pitchFamily="18" charset="0"/>
              </a:rPr>
              <a:t>Differentiating</a:t>
            </a:r>
          </a:p>
          <a:p>
            <a:r>
              <a:rPr lang="en-GB" sz="1400" b="1" dirty="0">
                <a:solidFill>
                  <a:srgbClr val="00FDFF"/>
                </a:solidFill>
                <a:latin typeface="+mn-lt"/>
                <a:cs typeface="Times New Roman" panose="02020603050405020304" pitchFamily="18" charset="0"/>
              </a:rPr>
              <a:t>Somatic</a:t>
            </a:r>
            <a:r>
              <a:rPr lang="zh-CN" altLang="en-US" sz="1400" b="1" dirty="0">
                <a:solidFill>
                  <a:srgbClr val="00FDFF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GB" sz="1400" b="1" dirty="0">
                <a:solidFill>
                  <a:srgbClr val="00FDFF"/>
                </a:solidFill>
                <a:latin typeface="+mn-lt"/>
                <a:cs typeface="Times New Roman" panose="02020603050405020304" pitchFamily="18" charset="0"/>
              </a:rPr>
              <a:t>Cyst</a:t>
            </a:r>
            <a:endParaRPr lang="en-GB" sz="1400" b="1" dirty="0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84CD003-EEF1-E265-DC52-2F885E4C9736}"/>
              </a:ext>
            </a:extLst>
          </p:cNvPr>
          <p:cNvCxnSpPr>
            <a:cxnSpLocks/>
          </p:cNvCxnSpPr>
          <p:nvPr/>
        </p:nvCxnSpPr>
        <p:spPr>
          <a:xfrm flipH="1" flipV="1">
            <a:off x="6744081" y="1016104"/>
            <a:ext cx="103290" cy="466950"/>
          </a:xfrm>
          <a:prstGeom prst="line">
            <a:avLst/>
          </a:prstGeom>
          <a:ln>
            <a:solidFill>
              <a:srgbClr val="00FDFF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035EF74-638C-0ED3-047B-77931D12A9FB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7608768" y="1347040"/>
            <a:ext cx="99892" cy="71380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FC8826E-4D70-ABEA-B110-A5E59B3CFC80}"/>
              </a:ext>
            </a:extLst>
          </p:cNvPr>
          <p:cNvSpPr txBox="1"/>
          <p:nvPr/>
        </p:nvSpPr>
        <p:spPr>
          <a:xfrm>
            <a:off x="4539831" y="4832129"/>
            <a:ext cx="13384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Bam&gt;+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2539AEE-6A46-68E0-F5B7-701D4A21B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38" y="5418666"/>
            <a:ext cx="8452326" cy="1225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CN" sz="2000" dirty="0"/>
              <a:t>Cell-cell communications between different lineages coordinate differentiation and maintain tissue homeostasis</a:t>
            </a:r>
          </a:p>
          <a:p>
            <a:r>
              <a:rPr lang="en-US" altLang="en-CN" sz="2000" dirty="0"/>
              <a:t>The cell-cell communication can also be metabolic</a:t>
            </a:r>
            <a:endParaRPr lang="en-CN" altLang="en-CN" sz="1400" dirty="0"/>
          </a:p>
        </p:txBody>
      </p:sp>
    </p:spTree>
    <p:extLst>
      <p:ext uri="{BB962C8B-B14F-4D97-AF65-F5344CB8AC3E}">
        <p14:creationId xmlns:p14="http://schemas.microsoft.com/office/powerpoint/2010/main" val="886390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594B-D866-DCDB-38FB-F69AF095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2C31300-671E-229B-FBA7-1135C472DB6D}"/>
              </a:ext>
            </a:extLst>
          </p:cNvPr>
          <p:cNvSpPr txBox="1">
            <a:spLocks/>
          </p:cNvSpPr>
          <p:nvPr/>
        </p:nvSpPr>
        <p:spPr bwMode="auto">
          <a:xfrm>
            <a:off x="35496" y="72008"/>
            <a:ext cx="7632848" cy="69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>
                <a:solidFill>
                  <a:schemeClr val="bg1"/>
                </a:solidFill>
              </a:rPr>
              <a:t>Glycolysis in Somatic Cells is Required for Germline Survival</a:t>
            </a:r>
            <a:endParaRPr lang="en-CN" sz="2000" dirty="0">
              <a:solidFill>
                <a:schemeClr val="bg1"/>
              </a:solidFill>
            </a:endParaRPr>
          </a:p>
        </p:txBody>
      </p:sp>
      <p:pic>
        <p:nvPicPr>
          <p:cNvPr id="2" name="Picture 1" descr="A blue and yellow cell&#10;&#10;AI-generated content may be incorrect.">
            <a:extLst>
              <a:ext uri="{FF2B5EF4-FFF2-40B4-BE49-F238E27FC236}">
                <a16:creationId xmlns:a16="http://schemas.microsoft.com/office/drawing/2014/main" id="{F74EDF24-951E-8E47-70EE-71E02FAC41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956" b="13476"/>
          <a:stretch/>
        </p:blipFill>
        <p:spPr>
          <a:xfrm>
            <a:off x="3240986" y="548678"/>
            <a:ext cx="5903014" cy="6309321"/>
          </a:xfrm>
          <a:prstGeom prst="rect">
            <a:avLst/>
          </a:prstGeom>
        </p:spPr>
      </p:pic>
      <p:sp>
        <p:nvSpPr>
          <p:cNvPr id="6" name="TextBox 41">
            <a:extLst>
              <a:ext uri="{FF2B5EF4-FFF2-40B4-BE49-F238E27FC236}">
                <a16:creationId xmlns:a16="http://schemas.microsoft.com/office/drawing/2014/main" id="{A7F26237-3250-0A36-BC50-BC08152BF535}"/>
              </a:ext>
            </a:extLst>
          </p:cNvPr>
          <p:cNvSpPr txBox="1"/>
          <p:nvPr/>
        </p:nvSpPr>
        <p:spPr>
          <a:xfrm>
            <a:off x="3973571" y="562877"/>
            <a:ext cx="1196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Trehalose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41">
            <a:extLst>
              <a:ext uri="{FF2B5EF4-FFF2-40B4-BE49-F238E27FC236}">
                <a16:creationId xmlns:a16="http://schemas.microsoft.com/office/drawing/2014/main" id="{AFAEF13F-5C90-0373-A772-EBFE1F7B8F9D}"/>
              </a:ext>
            </a:extLst>
          </p:cNvPr>
          <p:cNvSpPr txBox="1"/>
          <p:nvPr/>
        </p:nvSpPr>
        <p:spPr>
          <a:xfrm>
            <a:off x="4043867" y="908720"/>
            <a:ext cx="1024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Glucose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41">
            <a:extLst>
              <a:ext uri="{FF2B5EF4-FFF2-40B4-BE49-F238E27FC236}">
                <a16:creationId xmlns:a16="http://schemas.microsoft.com/office/drawing/2014/main" id="{96E3271E-D4B8-2941-FB4F-4362E6E80839}"/>
              </a:ext>
            </a:extLst>
          </p:cNvPr>
          <p:cNvSpPr txBox="1"/>
          <p:nvPr/>
        </p:nvSpPr>
        <p:spPr>
          <a:xfrm>
            <a:off x="4105037" y="1321023"/>
            <a:ext cx="987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G6P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41">
            <a:extLst>
              <a:ext uri="{FF2B5EF4-FFF2-40B4-BE49-F238E27FC236}">
                <a16:creationId xmlns:a16="http://schemas.microsoft.com/office/drawing/2014/main" id="{3DDBBD7C-211D-708D-D82E-AFAF486E310B}"/>
              </a:ext>
            </a:extLst>
          </p:cNvPr>
          <p:cNvSpPr txBox="1"/>
          <p:nvPr/>
        </p:nvSpPr>
        <p:spPr>
          <a:xfrm>
            <a:off x="4248478" y="1753071"/>
            <a:ext cx="676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F6P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41">
            <a:extLst>
              <a:ext uri="{FF2B5EF4-FFF2-40B4-BE49-F238E27FC236}">
                <a16:creationId xmlns:a16="http://schemas.microsoft.com/office/drawing/2014/main" id="{B213457E-E2AE-5059-288B-AA6C9EF35ACB}"/>
              </a:ext>
            </a:extLst>
          </p:cNvPr>
          <p:cNvSpPr txBox="1"/>
          <p:nvPr/>
        </p:nvSpPr>
        <p:spPr>
          <a:xfrm>
            <a:off x="4088381" y="2163120"/>
            <a:ext cx="92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F1,6BP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41">
            <a:extLst>
              <a:ext uri="{FF2B5EF4-FFF2-40B4-BE49-F238E27FC236}">
                <a16:creationId xmlns:a16="http://schemas.microsoft.com/office/drawing/2014/main" id="{32B715C8-5269-C322-12E5-29AB7A621BA2}"/>
              </a:ext>
            </a:extLst>
          </p:cNvPr>
          <p:cNvSpPr txBox="1"/>
          <p:nvPr/>
        </p:nvSpPr>
        <p:spPr>
          <a:xfrm>
            <a:off x="4208445" y="2573169"/>
            <a:ext cx="737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GA3P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41">
            <a:extLst>
              <a:ext uri="{FF2B5EF4-FFF2-40B4-BE49-F238E27FC236}">
                <a16:creationId xmlns:a16="http://schemas.microsoft.com/office/drawing/2014/main" id="{42207309-0737-BA5A-E100-B0D9C0F7D5B2}"/>
              </a:ext>
            </a:extLst>
          </p:cNvPr>
          <p:cNvSpPr txBox="1"/>
          <p:nvPr/>
        </p:nvSpPr>
        <p:spPr>
          <a:xfrm>
            <a:off x="4212172" y="3001501"/>
            <a:ext cx="938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1,3BPG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41">
            <a:extLst>
              <a:ext uri="{FF2B5EF4-FFF2-40B4-BE49-F238E27FC236}">
                <a16:creationId xmlns:a16="http://schemas.microsoft.com/office/drawing/2014/main" id="{D92F15E0-7C49-A187-7A7D-273FC0A8DD6A}"/>
              </a:ext>
            </a:extLst>
          </p:cNvPr>
          <p:cNvSpPr txBox="1"/>
          <p:nvPr/>
        </p:nvSpPr>
        <p:spPr>
          <a:xfrm>
            <a:off x="4479183" y="3443185"/>
            <a:ext cx="726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3PG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41">
            <a:extLst>
              <a:ext uri="{FF2B5EF4-FFF2-40B4-BE49-F238E27FC236}">
                <a16:creationId xmlns:a16="http://schemas.microsoft.com/office/drawing/2014/main" id="{CE02D992-5138-1923-09F2-639562B47097}"/>
              </a:ext>
            </a:extLst>
          </p:cNvPr>
          <p:cNvSpPr txBox="1"/>
          <p:nvPr/>
        </p:nvSpPr>
        <p:spPr>
          <a:xfrm>
            <a:off x="4739465" y="3769295"/>
            <a:ext cx="69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2PG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41">
            <a:extLst>
              <a:ext uri="{FF2B5EF4-FFF2-40B4-BE49-F238E27FC236}">
                <a16:creationId xmlns:a16="http://schemas.microsoft.com/office/drawing/2014/main" id="{6780407B-B768-E7EB-4D22-BECC9B6E39A6}"/>
              </a:ext>
            </a:extLst>
          </p:cNvPr>
          <p:cNvSpPr txBox="1"/>
          <p:nvPr/>
        </p:nvSpPr>
        <p:spPr>
          <a:xfrm>
            <a:off x="5145098" y="4129335"/>
            <a:ext cx="651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PEP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41">
            <a:extLst>
              <a:ext uri="{FF2B5EF4-FFF2-40B4-BE49-F238E27FC236}">
                <a16:creationId xmlns:a16="http://schemas.microsoft.com/office/drawing/2014/main" id="{9D1E2F6D-4A4F-DC52-CD99-FB95345DB929}"/>
              </a:ext>
            </a:extLst>
          </p:cNvPr>
          <p:cNvSpPr txBox="1"/>
          <p:nvPr/>
        </p:nvSpPr>
        <p:spPr>
          <a:xfrm>
            <a:off x="5462463" y="4489375"/>
            <a:ext cx="628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</a:rPr>
              <a:t>Pyr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Straight Arrow Connector 46">
            <a:extLst>
              <a:ext uri="{FF2B5EF4-FFF2-40B4-BE49-F238E27FC236}">
                <a16:creationId xmlns:a16="http://schemas.microsoft.com/office/drawing/2014/main" id="{DA02C51D-CB66-D735-C62C-3B548469BB1E}"/>
              </a:ext>
            </a:extLst>
          </p:cNvPr>
          <p:cNvCxnSpPr>
            <a:cxnSpLocks/>
          </p:cNvCxnSpPr>
          <p:nvPr/>
        </p:nvCxnSpPr>
        <p:spPr>
          <a:xfrm>
            <a:off x="5395026" y="4365104"/>
            <a:ext cx="152430" cy="183026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46">
            <a:extLst>
              <a:ext uri="{FF2B5EF4-FFF2-40B4-BE49-F238E27FC236}">
                <a16:creationId xmlns:a16="http://schemas.microsoft.com/office/drawing/2014/main" id="{75131235-89E6-F38B-3063-E5FE9090B1C6}"/>
              </a:ext>
            </a:extLst>
          </p:cNvPr>
          <p:cNvCxnSpPr>
            <a:cxnSpLocks/>
          </p:cNvCxnSpPr>
          <p:nvPr/>
        </p:nvCxnSpPr>
        <p:spPr>
          <a:xfrm>
            <a:off x="4840644" y="3697287"/>
            <a:ext cx="116407" cy="116180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46">
            <a:extLst>
              <a:ext uri="{FF2B5EF4-FFF2-40B4-BE49-F238E27FC236}">
                <a16:creationId xmlns:a16="http://schemas.microsoft.com/office/drawing/2014/main" id="{81B0CFF8-D6BB-E5AB-8434-D24C60588BAF}"/>
              </a:ext>
            </a:extLst>
          </p:cNvPr>
          <p:cNvCxnSpPr>
            <a:cxnSpLocks/>
          </p:cNvCxnSpPr>
          <p:nvPr/>
        </p:nvCxnSpPr>
        <p:spPr>
          <a:xfrm>
            <a:off x="4628446" y="3365269"/>
            <a:ext cx="116407" cy="116180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46">
            <a:extLst>
              <a:ext uri="{FF2B5EF4-FFF2-40B4-BE49-F238E27FC236}">
                <a16:creationId xmlns:a16="http://schemas.microsoft.com/office/drawing/2014/main" id="{5020A0AF-1E1C-3A00-A082-F41158370067}"/>
              </a:ext>
            </a:extLst>
          </p:cNvPr>
          <p:cNvCxnSpPr>
            <a:cxnSpLocks/>
          </p:cNvCxnSpPr>
          <p:nvPr/>
        </p:nvCxnSpPr>
        <p:spPr>
          <a:xfrm>
            <a:off x="4573506" y="2051432"/>
            <a:ext cx="0" cy="153432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46">
            <a:extLst>
              <a:ext uri="{FF2B5EF4-FFF2-40B4-BE49-F238E27FC236}">
                <a16:creationId xmlns:a16="http://schemas.microsoft.com/office/drawing/2014/main" id="{B1D1B9C0-10BD-E3B8-DC77-0C9D03483F13}"/>
              </a:ext>
            </a:extLst>
          </p:cNvPr>
          <p:cNvCxnSpPr>
            <a:cxnSpLocks/>
          </p:cNvCxnSpPr>
          <p:nvPr/>
        </p:nvCxnSpPr>
        <p:spPr>
          <a:xfrm>
            <a:off x="4574145" y="1619384"/>
            <a:ext cx="0" cy="153432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Straight Arrow Connector 46">
            <a:extLst>
              <a:ext uri="{FF2B5EF4-FFF2-40B4-BE49-F238E27FC236}">
                <a16:creationId xmlns:a16="http://schemas.microsoft.com/office/drawing/2014/main" id="{5A1F30EE-113E-90E8-4572-A71BF40FD056}"/>
              </a:ext>
            </a:extLst>
          </p:cNvPr>
          <p:cNvCxnSpPr>
            <a:cxnSpLocks/>
          </p:cNvCxnSpPr>
          <p:nvPr/>
        </p:nvCxnSpPr>
        <p:spPr>
          <a:xfrm>
            <a:off x="4572000" y="1196752"/>
            <a:ext cx="0" cy="153432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Straight Arrow Connector 46">
            <a:extLst>
              <a:ext uri="{FF2B5EF4-FFF2-40B4-BE49-F238E27FC236}">
                <a16:creationId xmlns:a16="http://schemas.microsoft.com/office/drawing/2014/main" id="{4D9CD1B0-D0B4-01EA-3AEE-19A9B9B73F50}"/>
              </a:ext>
            </a:extLst>
          </p:cNvPr>
          <p:cNvCxnSpPr>
            <a:cxnSpLocks/>
          </p:cNvCxnSpPr>
          <p:nvPr/>
        </p:nvCxnSpPr>
        <p:spPr>
          <a:xfrm>
            <a:off x="4572000" y="836712"/>
            <a:ext cx="0" cy="153432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Straight Arrow Connector 46">
            <a:extLst>
              <a:ext uri="{FF2B5EF4-FFF2-40B4-BE49-F238E27FC236}">
                <a16:creationId xmlns:a16="http://schemas.microsoft.com/office/drawing/2014/main" id="{E3AE7B47-60BA-57C1-722A-B1082CF615E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4576978" y="2420888"/>
            <a:ext cx="8873" cy="152281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" name="Straight Arrow Connector 46">
            <a:extLst>
              <a:ext uri="{FF2B5EF4-FFF2-40B4-BE49-F238E27FC236}">
                <a16:creationId xmlns:a16="http://schemas.microsoft.com/office/drawing/2014/main" id="{D9A6413F-D168-E2EE-2504-6407AD1B7709}"/>
              </a:ext>
            </a:extLst>
          </p:cNvPr>
          <p:cNvCxnSpPr>
            <a:cxnSpLocks/>
          </p:cNvCxnSpPr>
          <p:nvPr/>
        </p:nvCxnSpPr>
        <p:spPr>
          <a:xfrm>
            <a:off x="4572000" y="2852936"/>
            <a:ext cx="0" cy="148565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Straight Arrow Connector 46">
            <a:extLst>
              <a:ext uri="{FF2B5EF4-FFF2-40B4-BE49-F238E27FC236}">
                <a16:creationId xmlns:a16="http://schemas.microsoft.com/office/drawing/2014/main" id="{23AADB11-B740-FE89-B81B-152AF473132A}"/>
              </a:ext>
            </a:extLst>
          </p:cNvPr>
          <p:cNvCxnSpPr>
            <a:cxnSpLocks/>
          </p:cNvCxnSpPr>
          <p:nvPr/>
        </p:nvCxnSpPr>
        <p:spPr>
          <a:xfrm>
            <a:off x="5177971" y="4057327"/>
            <a:ext cx="100947" cy="152249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Signo de multiplicación 33">
            <a:extLst>
              <a:ext uri="{FF2B5EF4-FFF2-40B4-BE49-F238E27FC236}">
                <a16:creationId xmlns:a16="http://schemas.microsoft.com/office/drawing/2014/main" id="{52CEB500-B84F-DAA2-9C46-A80B59423C69}"/>
              </a:ext>
            </a:extLst>
          </p:cNvPr>
          <p:cNvSpPr/>
          <p:nvPr/>
        </p:nvSpPr>
        <p:spPr>
          <a:xfrm>
            <a:off x="4397641" y="706509"/>
            <a:ext cx="340765" cy="368799"/>
          </a:xfrm>
          <a:prstGeom prst="mathMultiply">
            <a:avLst/>
          </a:prstGeom>
          <a:solidFill>
            <a:srgbClr val="FF0000">
              <a:alpha val="40000"/>
            </a:srgbClr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Signo de multiplicación 33">
            <a:extLst>
              <a:ext uri="{FF2B5EF4-FFF2-40B4-BE49-F238E27FC236}">
                <a16:creationId xmlns:a16="http://schemas.microsoft.com/office/drawing/2014/main" id="{117457C9-2B53-A1EC-2BF7-6F85F64A130A}"/>
              </a:ext>
            </a:extLst>
          </p:cNvPr>
          <p:cNvSpPr/>
          <p:nvPr/>
        </p:nvSpPr>
        <p:spPr>
          <a:xfrm>
            <a:off x="4397640" y="1484411"/>
            <a:ext cx="340765" cy="368799"/>
          </a:xfrm>
          <a:prstGeom prst="mathMultiply">
            <a:avLst/>
          </a:prstGeom>
          <a:solidFill>
            <a:srgbClr val="FF0000">
              <a:alpha val="40000"/>
            </a:srgbClr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Signo de multiplicación 33">
            <a:extLst>
              <a:ext uri="{FF2B5EF4-FFF2-40B4-BE49-F238E27FC236}">
                <a16:creationId xmlns:a16="http://schemas.microsoft.com/office/drawing/2014/main" id="{C1FC1FC1-3C8D-69F6-9FB1-BE2BBD3B3D1D}"/>
              </a:ext>
            </a:extLst>
          </p:cNvPr>
          <p:cNvSpPr/>
          <p:nvPr/>
        </p:nvSpPr>
        <p:spPr>
          <a:xfrm>
            <a:off x="4397639" y="1928008"/>
            <a:ext cx="340765" cy="368799"/>
          </a:xfrm>
          <a:prstGeom prst="mathMultiply">
            <a:avLst/>
          </a:prstGeom>
          <a:solidFill>
            <a:srgbClr val="FF0000">
              <a:alpha val="40000"/>
            </a:srgbClr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Signo de multiplicación 33">
            <a:extLst>
              <a:ext uri="{FF2B5EF4-FFF2-40B4-BE49-F238E27FC236}">
                <a16:creationId xmlns:a16="http://schemas.microsoft.com/office/drawing/2014/main" id="{89FE2B29-D482-F96A-788F-12EF63E09E6E}"/>
              </a:ext>
            </a:extLst>
          </p:cNvPr>
          <p:cNvSpPr/>
          <p:nvPr/>
        </p:nvSpPr>
        <p:spPr>
          <a:xfrm>
            <a:off x="5292080" y="4270923"/>
            <a:ext cx="340765" cy="368799"/>
          </a:xfrm>
          <a:prstGeom prst="mathMultiply">
            <a:avLst/>
          </a:prstGeom>
          <a:solidFill>
            <a:srgbClr val="FF0000">
              <a:alpha val="40000"/>
            </a:srgbClr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igno de multiplicación 33">
            <a:extLst>
              <a:ext uri="{FF2B5EF4-FFF2-40B4-BE49-F238E27FC236}">
                <a16:creationId xmlns:a16="http://schemas.microsoft.com/office/drawing/2014/main" id="{4232C69D-7BE8-1820-EB90-56D90D42BD94}"/>
              </a:ext>
            </a:extLst>
          </p:cNvPr>
          <p:cNvSpPr/>
          <p:nvPr/>
        </p:nvSpPr>
        <p:spPr>
          <a:xfrm>
            <a:off x="5058061" y="3946309"/>
            <a:ext cx="340765" cy="368799"/>
          </a:xfrm>
          <a:prstGeom prst="mathMultiply">
            <a:avLst/>
          </a:prstGeom>
          <a:solidFill>
            <a:srgbClr val="FF0000">
              <a:alpha val="40000"/>
            </a:srgbClr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Signo de multiplicación 33">
            <a:extLst>
              <a:ext uri="{FF2B5EF4-FFF2-40B4-BE49-F238E27FC236}">
                <a16:creationId xmlns:a16="http://schemas.microsoft.com/office/drawing/2014/main" id="{14208C5B-4912-9F7C-61BD-8CDC214449FD}"/>
              </a:ext>
            </a:extLst>
          </p:cNvPr>
          <p:cNvSpPr/>
          <p:nvPr/>
        </p:nvSpPr>
        <p:spPr>
          <a:xfrm>
            <a:off x="4739465" y="3575729"/>
            <a:ext cx="340765" cy="368799"/>
          </a:xfrm>
          <a:prstGeom prst="mathMultiply">
            <a:avLst/>
          </a:prstGeom>
          <a:solidFill>
            <a:srgbClr val="FF0000">
              <a:alpha val="40000"/>
            </a:srgbClr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Signo de multiplicación 33">
            <a:extLst>
              <a:ext uri="{FF2B5EF4-FFF2-40B4-BE49-F238E27FC236}">
                <a16:creationId xmlns:a16="http://schemas.microsoft.com/office/drawing/2014/main" id="{3D9B06C3-E799-4FDD-E63D-CB0884B08574}"/>
              </a:ext>
            </a:extLst>
          </p:cNvPr>
          <p:cNvSpPr/>
          <p:nvPr/>
        </p:nvSpPr>
        <p:spPr>
          <a:xfrm>
            <a:off x="4516266" y="3213591"/>
            <a:ext cx="340765" cy="368799"/>
          </a:xfrm>
          <a:prstGeom prst="mathMultiply">
            <a:avLst/>
          </a:prstGeom>
          <a:solidFill>
            <a:srgbClr val="FF0000">
              <a:alpha val="40000"/>
            </a:srgbClr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Signo de multiplicación 33">
            <a:extLst>
              <a:ext uri="{FF2B5EF4-FFF2-40B4-BE49-F238E27FC236}">
                <a16:creationId xmlns:a16="http://schemas.microsoft.com/office/drawing/2014/main" id="{4EABA776-B09B-9932-6211-44428D55AEBD}"/>
              </a:ext>
            </a:extLst>
          </p:cNvPr>
          <p:cNvSpPr/>
          <p:nvPr/>
        </p:nvSpPr>
        <p:spPr>
          <a:xfrm>
            <a:off x="4397639" y="2738776"/>
            <a:ext cx="340765" cy="368799"/>
          </a:xfrm>
          <a:prstGeom prst="mathMultiply">
            <a:avLst/>
          </a:prstGeom>
          <a:solidFill>
            <a:srgbClr val="FF0000">
              <a:alpha val="40000"/>
            </a:srgbClr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9" name="Straight Arrow Connector 46">
            <a:extLst>
              <a:ext uri="{FF2B5EF4-FFF2-40B4-BE49-F238E27FC236}">
                <a16:creationId xmlns:a16="http://schemas.microsoft.com/office/drawing/2014/main" id="{FD262B15-0475-A015-0A19-1DBDF9CA6D14}"/>
              </a:ext>
            </a:extLst>
          </p:cNvPr>
          <p:cNvCxnSpPr>
            <a:cxnSpLocks/>
          </p:cNvCxnSpPr>
          <p:nvPr/>
        </p:nvCxnSpPr>
        <p:spPr>
          <a:xfrm flipV="1">
            <a:off x="5947473" y="4639981"/>
            <a:ext cx="319810" cy="119"/>
          </a:xfrm>
          <a:prstGeom prst="straightConnector1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1" name="TextBox 41">
            <a:extLst>
              <a:ext uri="{FF2B5EF4-FFF2-40B4-BE49-F238E27FC236}">
                <a16:creationId xmlns:a16="http://schemas.microsoft.com/office/drawing/2014/main" id="{0A84BC94-F3DA-69C7-D1E7-5AF6A0239F55}"/>
              </a:ext>
            </a:extLst>
          </p:cNvPr>
          <p:cNvSpPr txBox="1"/>
          <p:nvPr/>
        </p:nvSpPr>
        <p:spPr>
          <a:xfrm>
            <a:off x="6158105" y="4489375"/>
            <a:ext cx="628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Lac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2" name="Signo de multiplicación 33">
            <a:extLst>
              <a:ext uri="{FF2B5EF4-FFF2-40B4-BE49-F238E27FC236}">
                <a16:creationId xmlns:a16="http://schemas.microsoft.com/office/drawing/2014/main" id="{0C94257F-AB66-F2C9-8F55-0BB975E65134}"/>
              </a:ext>
            </a:extLst>
          </p:cNvPr>
          <p:cNvSpPr/>
          <p:nvPr/>
        </p:nvSpPr>
        <p:spPr>
          <a:xfrm>
            <a:off x="5917539" y="4450086"/>
            <a:ext cx="340765" cy="368799"/>
          </a:xfrm>
          <a:prstGeom prst="mathMultiply">
            <a:avLst/>
          </a:prstGeom>
          <a:solidFill>
            <a:srgbClr val="FF0000">
              <a:alpha val="40000"/>
            </a:srgbClr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TextBox 41">
            <a:extLst>
              <a:ext uri="{FF2B5EF4-FFF2-40B4-BE49-F238E27FC236}">
                <a16:creationId xmlns:a16="http://schemas.microsoft.com/office/drawing/2014/main" id="{FCF33CD6-8D97-6EFB-CA2D-BC05534A6095}"/>
              </a:ext>
            </a:extLst>
          </p:cNvPr>
          <p:cNvSpPr txBox="1"/>
          <p:nvPr/>
        </p:nvSpPr>
        <p:spPr>
          <a:xfrm>
            <a:off x="3240632" y="6535271"/>
            <a:ext cx="4931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Derived from Dr Diego Sainz de la Maza’s slides</a:t>
            </a:r>
          </a:p>
        </p:txBody>
      </p:sp>
      <p:sp>
        <p:nvSpPr>
          <p:cNvPr id="64" name="TextBox 41">
            <a:extLst>
              <a:ext uri="{FF2B5EF4-FFF2-40B4-BE49-F238E27FC236}">
                <a16:creationId xmlns:a16="http://schemas.microsoft.com/office/drawing/2014/main" id="{28064323-390B-99A5-7EB5-AF3E568E0AFB}"/>
              </a:ext>
            </a:extLst>
          </p:cNvPr>
          <p:cNvSpPr txBox="1"/>
          <p:nvPr/>
        </p:nvSpPr>
        <p:spPr>
          <a:xfrm>
            <a:off x="7640057" y="4315108"/>
            <a:ext cx="130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Germ cell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5" name="TextBox 41">
            <a:extLst>
              <a:ext uri="{FF2B5EF4-FFF2-40B4-BE49-F238E27FC236}">
                <a16:creationId xmlns:a16="http://schemas.microsoft.com/office/drawing/2014/main" id="{62A334A4-C7E4-6AB8-F2A8-D10FBB4601D6}"/>
              </a:ext>
            </a:extLst>
          </p:cNvPr>
          <p:cNvSpPr txBox="1"/>
          <p:nvPr/>
        </p:nvSpPr>
        <p:spPr>
          <a:xfrm>
            <a:off x="5958090" y="6047712"/>
            <a:ext cx="990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Cyst cell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3" name="Imagen 32">
            <a:extLst>
              <a:ext uri="{FF2B5EF4-FFF2-40B4-BE49-F238E27FC236}">
                <a16:creationId xmlns:a16="http://schemas.microsoft.com/office/drawing/2014/main" id="{27A1D6F5-B8CF-7137-D53A-C455611913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3059" y="1062420"/>
            <a:ext cx="2360941" cy="2360939"/>
          </a:xfrm>
          <a:prstGeom prst="rect">
            <a:avLst/>
          </a:prstGeom>
        </p:spPr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B681090C-CBD9-290C-318C-6F4B318FF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695" y="2095130"/>
            <a:ext cx="3301177" cy="2990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b="1" dirty="0"/>
              <a:t>-</a:t>
            </a:r>
            <a:r>
              <a:rPr lang="en-US" altLang="zh-CN" sz="2000" dirty="0"/>
              <a:t> Knockdown of glycolytic enzymes in the somatic cells increases germline deaths</a:t>
            </a:r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b="1" dirty="0"/>
              <a:t>-</a:t>
            </a:r>
            <a:r>
              <a:rPr lang="en-US" altLang="zh-CN" sz="2000" dirty="0"/>
              <a:t> Knockdown of lactose dehydrogenase increases germline deaths</a:t>
            </a:r>
          </a:p>
        </p:txBody>
      </p:sp>
    </p:spTree>
    <p:extLst>
      <p:ext uri="{BB962C8B-B14F-4D97-AF65-F5344CB8AC3E}">
        <p14:creationId xmlns:p14="http://schemas.microsoft.com/office/powerpoint/2010/main" val="224809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1" grpId="0"/>
      <p:bldP spid="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E167-AFA5-DF36-B682-E9208967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 descr="A blue and yellow cell&#10;&#10;AI-generated content may be incorrect.">
            <a:extLst>
              <a:ext uri="{FF2B5EF4-FFF2-40B4-BE49-F238E27FC236}">
                <a16:creationId xmlns:a16="http://schemas.microsoft.com/office/drawing/2014/main" id="{8864F96F-6292-8777-B61F-4BE394358B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956" b="13476"/>
          <a:stretch/>
        </p:blipFill>
        <p:spPr>
          <a:xfrm>
            <a:off x="3240986" y="548678"/>
            <a:ext cx="5903014" cy="630932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84F0D90-3DFA-B7DC-E77D-52EAB7076721}"/>
              </a:ext>
            </a:extLst>
          </p:cNvPr>
          <p:cNvSpPr txBox="1">
            <a:spLocks/>
          </p:cNvSpPr>
          <p:nvPr/>
        </p:nvSpPr>
        <p:spPr bwMode="auto">
          <a:xfrm>
            <a:off x="35496" y="72008"/>
            <a:ext cx="7488212" cy="69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2000" dirty="0">
                <a:solidFill>
                  <a:schemeClr val="bg1"/>
                </a:solidFill>
              </a:rPr>
              <a:t>CG</a:t>
            </a:r>
            <a:r>
              <a:rPr lang="en-US" altLang="zh-CN" sz="2000" dirty="0">
                <a:solidFill>
                  <a:schemeClr val="bg1"/>
                </a:solidFill>
              </a:rPr>
              <a:t>8034 is a potential lactate transporter in the somatic cells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endParaRPr lang="en-CN" sz="2000" dirty="0">
              <a:solidFill>
                <a:schemeClr val="bg1"/>
              </a:solidFill>
            </a:endParaRPr>
          </a:p>
        </p:txBody>
      </p:sp>
      <p:sp>
        <p:nvSpPr>
          <p:cNvPr id="15" name="TextBox 76">
            <a:extLst>
              <a:ext uri="{FF2B5EF4-FFF2-40B4-BE49-F238E27FC236}">
                <a16:creationId xmlns:a16="http://schemas.microsoft.com/office/drawing/2014/main" id="{0206B585-9C33-BF08-80F7-6290276D230C}"/>
              </a:ext>
            </a:extLst>
          </p:cNvPr>
          <p:cNvSpPr txBox="1"/>
          <p:nvPr/>
        </p:nvSpPr>
        <p:spPr>
          <a:xfrm>
            <a:off x="3865507" y="792598"/>
            <a:ext cx="16929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Glucose</a:t>
            </a:r>
            <a:endParaRPr lang="en-GB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85">
            <a:extLst>
              <a:ext uri="{FF2B5EF4-FFF2-40B4-BE49-F238E27FC236}">
                <a16:creationId xmlns:a16="http://schemas.microsoft.com/office/drawing/2014/main" id="{8009958D-0FD0-A2DB-7D5E-BB4B6F58E2DF}"/>
              </a:ext>
            </a:extLst>
          </p:cNvPr>
          <p:cNvSpPr txBox="1"/>
          <p:nvPr/>
        </p:nvSpPr>
        <p:spPr>
          <a:xfrm>
            <a:off x="3635896" y="2820021"/>
            <a:ext cx="2152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Pyruvate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86">
            <a:extLst>
              <a:ext uri="{FF2B5EF4-FFF2-40B4-BE49-F238E27FC236}">
                <a16:creationId xmlns:a16="http://schemas.microsoft.com/office/drawing/2014/main" id="{79B77D43-FE14-BA7F-D6DC-776DC15F6809}"/>
              </a:ext>
            </a:extLst>
          </p:cNvPr>
          <p:cNvSpPr txBox="1"/>
          <p:nvPr/>
        </p:nvSpPr>
        <p:spPr>
          <a:xfrm>
            <a:off x="4909993" y="4009782"/>
            <a:ext cx="1410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Lactate</a:t>
            </a:r>
            <a:endParaRPr lang="en-GB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Straight Arrow Connector 91">
            <a:extLst>
              <a:ext uri="{FF2B5EF4-FFF2-40B4-BE49-F238E27FC236}">
                <a16:creationId xmlns:a16="http://schemas.microsoft.com/office/drawing/2014/main" id="{B8D3BE39-05F4-7068-4432-44AF2C6581F2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4712006" y="1100375"/>
            <a:ext cx="0" cy="1719646"/>
          </a:xfrm>
          <a:prstGeom prst="straightConnector1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92">
            <a:extLst>
              <a:ext uri="{FF2B5EF4-FFF2-40B4-BE49-F238E27FC236}">
                <a16:creationId xmlns:a16="http://schemas.microsoft.com/office/drawing/2014/main" id="{002D2EA4-F990-D151-B703-C7733C18078F}"/>
              </a:ext>
            </a:extLst>
          </p:cNvPr>
          <p:cNvCxnSpPr>
            <a:cxnSpLocks/>
          </p:cNvCxnSpPr>
          <p:nvPr/>
        </p:nvCxnSpPr>
        <p:spPr>
          <a:xfrm>
            <a:off x="4768331" y="3127798"/>
            <a:ext cx="667765" cy="887339"/>
          </a:xfrm>
          <a:prstGeom prst="straightConnector1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92">
            <a:extLst>
              <a:ext uri="{FF2B5EF4-FFF2-40B4-BE49-F238E27FC236}">
                <a16:creationId xmlns:a16="http://schemas.microsoft.com/office/drawing/2014/main" id="{7F076117-A288-255B-51A7-E6CEF3C39A3F}"/>
              </a:ext>
            </a:extLst>
          </p:cNvPr>
          <p:cNvCxnSpPr>
            <a:cxnSpLocks/>
          </p:cNvCxnSpPr>
          <p:nvPr/>
        </p:nvCxnSpPr>
        <p:spPr>
          <a:xfrm flipV="1">
            <a:off x="6014937" y="2848218"/>
            <a:ext cx="1362936" cy="1274637"/>
          </a:xfrm>
          <a:prstGeom prst="straightConnector1">
            <a:avLst/>
          </a:prstGeom>
          <a:noFill/>
          <a:ln w="38100" cap="flat" cmpd="sng" algn="ctr">
            <a:solidFill>
              <a:schemeClr val="bg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4" name="TextBox 86">
            <a:extLst>
              <a:ext uri="{FF2B5EF4-FFF2-40B4-BE49-F238E27FC236}">
                <a16:creationId xmlns:a16="http://schemas.microsoft.com/office/drawing/2014/main" id="{B5B511D3-2C69-8C73-6611-20D8EF129725}"/>
              </a:ext>
            </a:extLst>
          </p:cNvPr>
          <p:cNvSpPr txBox="1"/>
          <p:nvPr/>
        </p:nvSpPr>
        <p:spPr>
          <a:xfrm>
            <a:off x="5380615" y="3355106"/>
            <a:ext cx="1410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CG8034</a:t>
            </a:r>
            <a:endParaRPr lang="en-GB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2" name="TextBox 41">
            <a:extLst>
              <a:ext uri="{FF2B5EF4-FFF2-40B4-BE49-F238E27FC236}">
                <a16:creationId xmlns:a16="http://schemas.microsoft.com/office/drawing/2014/main" id="{CC901843-B41A-321D-438A-11ADB3E366BC}"/>
              </a:ext>
            </a:extLst>
          </p:cNvPr>
          <p:cNvSpPr txBox="1"/>
          <p:nvPr/>
        </p:nvSpPr>
        <p:spPr>
          <a:xfrm>
            <a:off x="7640057" y="4315108"/>
            <a:ext cx="130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Germ cell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3" name="TextBox 41">
            <a:extLst>
              <a:ext uri="{FF2B5EF4-FFF2-40B4-BE49-F238E27FC236}">
                <a16:creationId xmlns:a16="http://schemas.microsoft.com/office/drawing/2014/main" id="{4D6653D6-80AB-3B3F-4F4D-6A3F88FA8FBD}"/>
              </a:ext>
            </a:extLst>
          </p:cNvPr>
          <p:cNvSpPr txBox="1"/>
          <p:nvPr/>
        </p:nvSpPr>
        <p:spPr>
          <a:xfrm>
            <a:off x="5958090" y="6047712"/>
            <a:ext cx="990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Cyst cell</a:t>
            </a:r>
            <a:endParaRPr lang="en-GB" sz="1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58" name="Picture 57" descr="A graph of a number of lines&#10;&#10;AI-generated content may be incorrect.">
            <a:extLst>
              <a:ext uri="{FF2B5EF4-FFF2-40B4-BE49-F238E27FC236}">
                <a16:creationId xmlns:a16="http://schemas.microsoft.com/office/drawing/2014/main" id="{30AB850D-8831-3200-3F2A-1F510F5D9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9" y="638709"/>
            <a:ext cx="3136048" cy="3830287"/>
          </a:xfrm>
          <a:prstGeom prst="rect">
            <a:avLst/>
          </a:prstGeom>
        </p:spPr>
      </p:pic>
      <p:sp>
        <p:nvSpPr>
          <p:cNvPr id="60" name="Signo de multiplicación 33">
            <a:extLst>
              <a:ext uri="{FF2B5EF4-FFF2-40B4-BE49-F238E27FC236}">
                <a16:creationId xmlns:a16="http://schemas.microsoft.com/office/drawing/2014/main" id="{332F6780-831C-84F4-2618-1FFB85EEF402}"/>
              </a:ext>
            </a:extLst>
          </p:cNvPr>
          <p:cNvSpPr/>
          <p:nvPr/>
        </p:nvSpPr>
        <p:spPr>
          <a:xfrm>
            <a:off x="6320242" y="3485536"/>
            <a:ext cx="340765" cy="368799"/>
          </a:xfrm>
          <a:prstGeom prst="mathMultiply">
            <a:avLst/>
          </a:prstGeom>
          <a:solidFill>
            <a:srgbClr val="FF0000">
              <a:alpha val="40000"/>
            </a:srgbClr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41">
            <a:extLst>
              <a:ext uri="{FF2B5EF4-FFF2-40B4-BE49-F238E27FC236}">
                <a16:creationId xmlns:a16="http://schemas.microsoft.com/office/drawing/2014/main" id="{CEDA7FE7-5546-5198-FD2A-7C67A235DEFF}"/>
              </a:ext>
            </a:extLst>
          </p:cNvPr>
          <p:cNvSpPr txBox="1"/>
          <p:nvPr/>
        </p:nvSpPr>
        <p:spPr>
          <a:xfrm>
            <a:off x="3240632" y="6535271"/>
            <a:ext cx="4931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Derived from Dr Diego Sainz de la Maza’s slides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66901D-D4D9-0F26-B57B-049CED598410}"/>
              </a:ext>
            </a:extLst>
          </p:cNvPr>
          <p:cNvSpPr/>
          <p:nvPr/>
        </p:nvSpPr>
        <p:spPr>
          <a:xfrm>
            <a:off x="6291090" y="2869339"/>
            <a:ext cx="105622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35541-12ED-C2F6-9E17-95A493D9C896}"/>
              </a:ext>
            </a:extLst>
          </p:cNvPr>
          <p:cNvSpPr txBox="1"/>
          <p:nvPr/>
        </p:nvSpPr>
        <p:spPr>
          <a:xfrm>
            <a:off x="213403" y="5095837"/>
            <a:ext cx="2862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800" b="1" dirty="0"/>
              <a:t>-</a:t>
            </a:r>
            <a:r>
              <a:rPr lang="en-US" altLang="zh-CN" sz="1800" dirty="0"/>
              <a:t> CG8034 knockdown significantly increases germline deaths</a:t>
            </a:r>
          </a:p>
        </p:txBody>
      </p:sp>
    </p:spTree>
    <p:extLst>
      <p:ext uri="{BB962C8B-B14F-4D97-AF65-F5344CB8AC3E}">
        <p14:creationId xmlns:p14="http://schemas.microsoft.com/office/powerpoint/2010/main" val="209070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21067-F10A-2FCE-73D2-2087E690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F1041C5-D8B9-25AE-18C2-7ACCB5DE2B29}"/>
              </a:ext>
            </a:extLst>
          </p:cNvPr>
          <p:cNvSpPr txBox="1">
            <a:spLocks/>
          </p:cNvSpPr>
          <p:nvPr/>
        </p:nvSpPr>
        <p:spPr bwMode="auto">
          <a:xfrm>
            <a:off x="35496" y="72008"/>
            <a:ext cx="7920880" cy="69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2000" dirty="0">
                <a:solidFill>
                  <a:schemeClr val="bg1"/>
                </a:solidFill>
              </a:rPr>
              <a:t>The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UAS/Gal4</a:t>
            </a:r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system</a:t>
            </a:r>
            <a:endParaRPr lang="en-CN" sz="2000" dirty="0">
              <a:solidFill>
                <a:schemeClr val="bg1"/>
              </a:solidFill>
            </a:endParaRPr>
          </a:p>
        </p:txBody>
      </p:sp>
      <p:pic>
        <p:nvPicPr>
          <p:cNvPr id="1026" name="Picture 2" descr="GAL4 System — Andrea Brand Lab">
            <a:extLst>
              <a:ext uri="{FF2B5EF4-FFF2-40B4-BE49-F238E27FC236}">
                <a16:creationId xmlns:a16="http://schemas.microsoft.com/office/drawing/2014/main" id="{FBE4E547-9B2C-290F-4475-B8936CB21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0768"/>
            <a:ext cx="4176464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E7F862EA-CC2A-ADA4-9230-F62A82F1E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64904"/>
            <a:ext cx="4392150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CN" sz="2000" dirty="0"/>
              <a:t>Gal</a:t>
            </a:r>
            <a:r>
              <a:rPr lang="en-US" altLang="zh-CN" sz="2000" dirty="0"/>
              <a:t>4</a:t>
            </a:r>
            <a:r>
              <a:rPr lang="zh-CN" altLang="en-US" sz="2000" dirty="0"/>
              <a:t> </a:t>
            </a:r>
            <a:r>
              <a:rPr lang="en-US" altLang="zh-CN" sz="2000" dirty="0"/>
              <a:t>–</a:t>
            </a:r>
            <a:r>
              <a:rPr lang="zh-CN" altLang="en-US" sz="2000" dirty="0"/>
              <a:t> </a:t>
            </a:r>
            <a:r>
              <a:rPr lang="en-US" altLang="zh-CN" sz="2000" dirty="0"/>
              <a:t>a transcription factor that binds to UAS to activate gene expression</a:t>
            </a:r>
          </a:p>
          <a:p>
            <a:r>
              <a:rPr lang="en-US" altLang="en-CN" sz="2000" dirty="0"/>
              <a:t>Gal4 promoter – drives Gal4 expression in specific tissue</a:t>
            </a:r>
          </a:p>
          <a:p>
            <a:pPr lvl="1"/>
            <a:r>
              <a:rPr lang="en-US" altLang="en-CN" sz="1400" dirty="0"/>
              <a:t>Examples: Bam-Gal4, Tj-Gal4, </a:t>
            </a:r>
            <a:r>
              <a:rPr lang="en-US" altLang="en-CN" sz="1400" dirty="0" err="1"/>
              <a:t>etc</a:t>
            </a:r>
            <a:endParaRPr lang="en-CN" altLang="en-CN" sz="1400" dirty="0"/>
          </a:p>
        </p:txBody>
      </p:sp>
    </p:spTree>
    <p:extLst>
      <p:ext uri="{BB962C8B-B14F-4D97-AF65-F5344CB8AC3E}">
        <p14:creationId xmlns:p14="http://schemas.microsoft.com/office/powerpoint/2010/main" val="98321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6362-59FB-9967-A7F1-39E9D8D4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46140D5-6748-7671-C628-8953055930C8}"/>
              </a:ext>
            </a:extLst>
          </p:cNvPr>
          <p:cNvSpPr txBox="1">
            <a:spLocks/>
          </p:cNvSpPr>
          <p:nvPr/>
        </p:nvSpPr>
        <p:spPr bwMode="auto">
          <a:xfrm>
            <a:off x="35496" y="72008"/>
            <a:ext cx="7776864" cy="404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9 MCTs are expressed in the germline</a:t>
            </a:r>
            <a:endParaRPr lang="en-CN" sz="2000" dirty="0">
              <a:solidFill>
                <a:schemeClr val="bg1"/>
              </a:solidFill>
            </a:endParaRPr>
          </a:p>
        </p:txBody>
      </p:sp>
      <p:pic>
        <p:nvPicPr>
          <p:cNvPr id="2" name="Picture 1" descr="A collage of red lines&#10;&#10;AI-generated content may be incorrect.">
            <a:extLst>
              <a:ext uri="{FF2B5EF4-FFF2-40B4-BE49-F238E27FC236}">
                <a16:creationId xmlns:a16="http://schemas.microsoft.com/office/drawing/2014/main" id="{B51FDFC2-FC01-8C6C-70DC-9D33C64B55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2735" b="717"/>
          <a:stretch/>
        </p:blipFill>
        <p:spPr>
          <a:xfrm>
            <a:off x="833319" y="570218"/>
            <a:ext cx="6979041" cy="5163038"/>
          </a:xfrm>
          <a:prstGeom prst="rect">
            <a:avLst/>
          </a:prstGeom>
        </p:spPr>
      </p:pic>
      <p:sp>
        <p:nvSpPr>
          <p:cNvPr id="3" name="TextBox 41">
            <a:extLst>
              <a:ext uri="{FF2B5EF4-FFF2-40B4-BE49-F238E27FC236}">
                <a16:creationId xmlns:a16="http://schemas.microsoft.com/office/drawing/2014/main" id="{F2FE6AF3-579E-357B-7F99-B3CF0141B522}"/>
              </a:ext>
            </a:extLst>
          </p:cNvPr>
          <p:cNvSpPr txBox="1"/>
          <p:nvPr/>
        </p:nvSpPr>
        <p:spPr>
          <a:xfrm>
            <a:off x="7820585" y="4984430"/>
            <a:ext cx="1355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atin typeface="Arial" panose="020B0604020202020204" pitchFamily="34" charset="0"/>
              </a:rPr>
              <a:t>Data from Fly Cell Atlas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820DC69-42B5-8B10-677A-74874E7BB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5733256"/>
            <a:ext cx="8064896" cy="99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CN" sz="2000" dirty="0"/>
              <a:t>UMAP plot scales down multidimensional single-cell RNA-seq data to 2 dimensions</a:t>
            </a:r>
          </a:p>
          <a:p>
            <a:r>
              <a:rPr lang="en-US" altLang="en-CN" sz="2000" dirty="0"/>
              <a:t>Bam (Bag of marbles) is an early germline marker</a:t>
            </a:r>
          </a:p>
          <a:p>
            <a:endParaRPr lang="en-CN" altLang="en-CN" sz="1400" dirty="0"/>
          </a:p>
        </p:txBody>
      </p:sp>
    </p:spTree>
    <p:extLst>
      <p:ext uri="{BB962C8B-B14F-4D97-AF65-F5344CB8AC3E}">
        <p14:creationId xmlns:p14="http://schemas.microsoft.com/office/powerpoint/2010/main" val="1551733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95FC-4BB5-CDB4-7826-BE2C0405A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4C4CB86-C6CF-36C6-5EA8-A6B6BE24230F}"/>
              </a:ext>
            </a:extLst>
          </p:cNvPr>
          <p:cNvSpPr txBox="1">
            <a:spLocks/>
          </p:cNvSpPr>
          <p:nvPr/>
        </p:nvSpPr>
        <p:spPr bwMode="auto">
          <a:xfrm>
            <a:off x="35496" y="72008"/>
            <a:ext cx="7776864" cy="69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dirty="0" err="1">
                <a:solidFill>
                  <a:schemeClr val="bg1"/>
                </a:solidFill>
              </a:rPr>
              <a:t>Karmoisin</a:t>
            </a:r>
            <a:r>
              <a:rPr lang="en-US" sz="2000" dirty="0">
                <a:solidFill>
                  <a:schemeClr val="bg1"/>
                </a:solidFill>
              </a:rPr>
              <a:t> and Hermes Knockdown Increase Germline Death</a:t>
            </a:r>
            <a:endParaRPr lang="en-CN" sz="2000" dirty="0">
              <a:solidFill>
                <a:schemeClr val="bg1"/>
              </a:solidFill>
            </a:endParaRPr>
          </a:p>
        </p:txBody>
      </p:sp>
      <p:pic>
        <p:nvPicPr>
          <p:cNvPr id="4" name="Picture 3" descr="A graph of a number of cyst&#10;&#10;AI-generated content may be incorrect.">
            <a:extLst>
              <a:ext uri="{FF2B5EF4-FFF2-40B4-BE49-F238E27FC236}">
                <a16:creationId xmlns:a16="http://schemas.microsoft.com/office/drawing/2014/main" id="{79E76AAA-5788-F2DC-3AC8-E14818647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028" y="764704"/>
            <a:ext cx="3873634" cy="4164658"/>
          </a:xfrm>
          <a:prstGeom prst="rect">
            <a:avLst/>
          </a:prstGeom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831EC9CA-36CA-28E5-B3E4-E1857805A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373216"/>
            <a:ext cx="9289032" cy="1225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CN" sz="2000" dirty="0" err="1"/>
              <a:t>Karmoisin</a:t>
            </a:r>
            <a:r>
              <a:rPr lang="en-GB" altLang="en-CN" sz="2000" dirty="0"/>
              <a:t> and Hermes are primarily identified as an aromatic amino acid transporter and a proton-coupled pyruvate transporter, respectively</a:t>
            </a:r>
          </a:p>
          <a:p>
            <a:r>
              <a:rPr lang="en-GB" altLang="en-CN" sz="2000" dirty="0"/>
              <a:t>Further validation using the lactate reporter and a second RNAi line is required</a:t>
            </a:r>
          </a:p>
          <a:p>
            <a:pPr marL="0" indent="0">
              <a:buNone/>
            </a:pPr>
            <a:endParaRPr lang="en-GB" altLang="en-CN" sz="2000" dirty="0"/>
          </a:p>
        </p:txBody>
      </p:sp>
      <p:pic>
        <p:nvPicPr>
          <p:cNvPr id="9" name="Picture 8" descr="A close up of a cell&#10;&#10;AI-generated content may be incorrect.">
            <a:extLst>
              <a:ext uri="{FF2B5EF4-FFF2-40B4-BE49-F238E27FC236}">
                <a16:creationId xmlns:a16="http://schemas.microsoft.com/office/drawing/2014/main" id="{0ACBCF42-0019-55BF-A585-01C0AE1E9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16565" y="778681"/>
            <a:ext cx="4164658" cy="416465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97CC44-1E92-74A8-8328-E76D29E921A1}"/>
              </a:ext>
            </a:extLst>
          </p:cNvPr>
          <p:cNvCxnSpPr>
            <a:cxnSpLocks/>
          </p:cNvCxnSpPr>
          <p:nvPr/>
        </p:nvCxnSpPr>
        <p:spPr>
          <a:xfrm flipH="1" flipV="1">
            <a:off x="1691680" y="2847033"/>
            <a:ext cx="144016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8AB267-B949-3473-A99D-AD3FB832D9F5}"/>
              </a:ext>
            </a:extLst>
          </p:cNvPr>
          <p:cNvCxnSpPr>
            <a:cxnSpLocks/>
          </p:cNvCxnSpPr>
          <p:nvPr/>
        </p:nvCxnSpPr>
        <p:spPr>
          <a:xfrm flipH="1" flipV="1">
            <a:off x="1979712" y="2276872"/>
            <a:ext cx="144016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B80B57-26A3-CC4C-5220-B605BF76D6BF}"/>
              </a:ext>
            </a:extLst>
          </p:cNvPr>
          <p:cNvCxnSpPr>
            <a:cxnSpLocks/>
          </p:cNvCxnSpPr>
          <p:nvPr/>
        </p:nvCxnSpPr>
        <p:spPr>
          <a:xfrm flipV="1">
            <a:off x="2396546" y="2420888"/>
            <a:ext cx="0" cy="2961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917D7D-C5E1-AD0A-6A2D-BFEC54B3153F}"/>
              </a:ext>
            </a:extLst>
          </p:cNvPr>
          <p:cNvCxnSpPr>
            <a:cxnSpLocks/>
          </p:cNvCxnSpPr>
          <p:nvPr/>
        </p:nvCxnSpPr>
        <p:spPr>
          <a:xfrm flipH="1" flipV="1">
            <a:off x="3707904" y="3100210"/>
            <a:ext cx="144016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457A3B-FC67-E815-B541-3953E510629D}"/>
              </a:ext>
            </a:extLst>
          </p:cNvPr>
          <p:cNvCxnSpPr>
            <a:cxnSpLocks/>
          </p:cNvCxnSpPr>
          <p:nvPr/>
        </p:nvCxnSpPr>
        <p:spPr>
          <a:xfrm flipV="1">
            <a:off x="3345488" y="2812178"/>
            <a:ext cx="0" cy="3228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300601-0FFC-F777-BFDA-ABE709B0409B}"/>
              </a:ext>
            </a:extLst>
          </p:cNvPr>
          <p:cNvCxnSpPr>
            <a:cxnSpLocks/>
          </p:cNvCxnSpPr>
          <p:nvPr/>
        </p:nvCxnSpPr>
        <p:spPr>
          <a:xfrm flipV="1">
            <a:off x="3055080" y="2716993"/>
            <a:ext cx="0" cy="27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914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D2EF9-CA9B-31EC-2787-7BC8C0F2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 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pic>
        <p:nvPicPr>
          <p:cNvPr id="4098" name="Picture 2" descr="4,562 Any Questions Images, Stock Photos, 3D objects, &amp; Vectors |  Shutterstock">
            <a:extLst>
              <a:ext uri="{FF2B5EF4-FFF2-40B4-BE49-F238E27FC236}">
                <a16:creationId xmlns:a16="http://schemas.microsoft.com/office/drawing/2014/main" id="{5C5B91B1-24EB-F7CC-6BAE-2B6DD814E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2987" y="1679686"/>
            <a:ext cx="5085525" cy="349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7123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7810bf5c63fe2ebc4976b84"/>
  <p:tag name="FIGURESLIDEID" val="147f0b94-aeea-4507-b9c8-c684c89d8226"/>
  <p:tag name="DATEINSERTED" val="1739652529635"/>
  <p:tag name="BIOJSON" val="{&quot;id&quot;:&quot;7c15d8e5-89a7-4825-9b99-0accfa93de26&quot;,&quot;objects&quot;:{&quot;147f0b94-aeea-4507-b9c8-c684c89d8226&quot;:{&quot;id&quot;:&quot;147f0b94-aeea-4507-b9c8-c684c89d8226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7c15d8e5-89a7-4825-9b99-0accfa93de26&quot;,&quot;order&quot;:&quot;92&quot;}},&quot;9f405c6f-b7ee-4e1a-8fa4-11f77d5b6437&quot;:{&quot;id&quot;:&quot;9f405c6f-b7ee-4e1a-8fa4-11f77d5b6437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1248,&quot;y&quot;:864}},&quot;pathStyles&quot;:[{&quot;type&quot;:&quot;FILL&quot;,&quot;fillStyle&quot;:&quot;rgb(0, 0, 0)&quot;}],&quot;parent&quot;:{&quot;parentId&quot;:&quot;147f0b94-aeea-4507-b9c8-c684c89d8226&quot;,&quot;type&quot;:&quot;FRAME&quot;,&quot;order&quot;:&quot;5&quot;}},&quot;4d61ee0d-d572-432a-97f5-4ac999848760&quot;:{&quot;relativeTransform&quot;:{&quot;translate&quot;:{&quot;x&quot;:-225.86739517740375,&quot;y&quot;:-273.09424066944325},&quot;rotate&quot;:0,&quot;skewX&quot;:0,&quot;scale&quot;:{&quot;x&quot;:0.9999999999999999,&quot;y&quot;:0.9999999999999999}},&quot;type&quot;:&quot;FIGURE_OBJECT&quot;,&quot;id&quot;:&quot;4d61ee0d-d572-432a-97f5-4ac999848760&quot;,&quot;name&quot;:&quot;Immune and cancer cell cluster (malignant conversion) 2&quot;,&quot;displayName&quot;:&quot;Immune and cancer cell cluster (malignant conversion) 2&quot;,&quot;opacity&quot;:1,&quot;source&quot;:{&quot;id&quot;:&quot;66fec7857d8583487107ad6f&quot;,&quot;type&quot;:&quot;ASSETS&quot;},&quot;pathStyles&quot;:[{&quot;type&quot;:&quot;FILL&quot;,&quot;fillStyle&quot;:&quot;rgb(0,0,0)&quot;}],&quot;isLocked&quot;:false,&quot;parent&quot;:{&quot;type&quot;:&quot;CHILD&quot;,&quot;parentId&quot;:&quot;147f0b94-aeea-4507-b9c8-c684c89d8226&quot;,&quot;order&quot;:&quot;5&quot;},&quot;isPremium&quot;:false},&quot;926948a2-460f-45dd-b5a3-49d96a434001&quot;:{&quot;type&quot;:&quot;FIGURE_OBJECT&quot;,&quot;id&quot;:&quot;926948a2-460f-45dd-b5a3-49d96a434001&quot;,&quot;name&quot;:&quot;Spheroidal cell&quot;,&quot;relativeTransform&quot;:{&quot;translate&quot;:{&quot;x&quot;:-7.598691342036458,&quot;y&quot;:-30.12341186473936},&quot;rotate&quot;:-2.679149151447384,&quot;skewX&quot;:0,&quot;scale&quot;:{&quot;x&quot;:0.2417498857198528,&quot;y&quot;:0.2417498857198529}},&quot;opacity&quot;:0.57,&quot;image&quot;:{&quot;url&quot;:&quot;https://icons.cdn.biorender.com/biorender/5f35964d8d485800287e50a6/5f32bc680be41f0028c4b1b3.png&quot;,&quot;fallbackUrl&quot;:&quot;sources/icons/5f35964d8d485800287e50a6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4d61ee0d-d572-432a-97f5-4ac999848760&quot;,&quot;order&quot;:&quot;05&quot;}},&quot;c782e89e-b1a5-46c4-ad75-46a2dddb3b60&quot;:{&quot;type&quot;:&quot;FIGURE_OBJECT&quot;,&quot;id&quot;:&quot;c782e89e-b1a5-46c4-ad75-46a2dddb3b60&quot;,&quot;name&quot;:&quot;Spheroidal cell&quot;,&quot;relativeTransform&quot;:{&quot;translate&quot;:{&quot;x&quot;:-25.62248486510196,&quot;y&quot;:8.740091558457479},&quot;rotate&quot;:-2.679149151447384,&quot;skewX&quot;:0,&quot;scale&quot;:{&quot;x&quot;:0.2417498857198528,&quot;y&quot;:0.2417498857198529}},&quot;opacity&quot;:0.57,&quot;image&quot;:{&quot;url&quot;:&quot;https://icons.cdn.biorender.com/biorender/5f35964d8d485800287e50a6/5f32bc680be41f0028c4b1b3.png&quot;,&quot;fallbackUrl&quot;:&quot;sources/icons/5f35964d8d485800287e50a6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4d61ee0d-d572-432a-97f5-4ac999848760&quot;,&quot;order&quot;:&quot;1&quot;}},&quot;98c8174c-1a56-4b22-8a2b-545d07d2e31e&quot;:{&quot;type&quot;:&quot;FIGURE_OBJECT&quot;,&quot;id&quot;:&quot;98c8174c-1a56-4b22-8a2b-545d07d2e31e&quot;,&quot;name&quot;:&quot;Spheroidal cell&quot;,&quot;relativeTransform&quot;:{&quot;translate&quot;:{&quot;x&quot;:31.483399197188504,&quot;y&quot;:-4.785789874872327},&quot;rotate&quot;:-2.679149151447384,&quot;skewX&quot;:0,&quot;scale&quot;:{&quot;x&quot;:0.2417498857198528,&quot;y&quot;:0.2417498857198529}},&quot;opacity&quot;:0.57,&quot;image&quot;:{&quot;url&quot;:&quot;https://icons.cdn.biorender.com/biorender/5f35964d8d485800287e50a6/5f32bc680be41f0028c4b1b3.png&quot;,&quot;fallbackUrl&quot;:&quot;sources/icons/5f35964d8d485800287e50a6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4d61ee0d-d572-432a-97f5-4ac999848760&quot;,&quot;order&quot;:&quot;2&quot;}},&quot;3f348a92-05c1-4f74-a3fc-fe5512983f8f&quot;:{&quot;type&quot;:&quot;FIGURE_OBJECT&quot;,&quot;id&quot;:&quot;3f348a92-05c1-4f74-a3fc-fe5512983f8f&quot;,&quot;name&quot;:&quot;Spheroidal cell&quot;,&quot;relativeTransform&quot;:{&quot;translate&quot;:{&quot;x&quot;:-25.622117691598042,&quot;y&quot;:-8.421583070011426},&quot;rotate&quot;:0.16567988901875036,&quot;skewX&quot;:-8.90469309025095e-17,&quot;scale&quot;:{&quot;x&quot;:0.241749885719853,&quot;y&quot;:0.24174988571985284}},&quot;opacity&quot;:0.99,&quot;image&quot;:{&quot;url&quot;:&quot;https://icons.cdn.biorender.com/biorender/5f35964d8d485800287e50a6/5f32bc680be41f0028c4b1b3.png&quot;,&quot;fallbackUrl&quot;:&quot;sources/icons/5f35964d8d485800287e50a6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4d61ee0d-d572-432a-97f5-4ac999848760&quot;,&quot;order&quot;:&quot;25&quot;}},&quot;4d8c26f0-dc79-4bad-9d15-b2018840c12c&quot;:{&quot;type&quot;:&quot;FIGURE_OBJECT&quot;,&quot;id&quot;:&quot;4d8c26f0-dc79-4bad-9d15-b2018840c12c&quot;,&quot;name&quot;:&quot;Spheroidal cell&quot;,&quot;relativeTransform&quot;:{&quot;translate&quot;:{&quot;x&quot;:17.952907573890556,&quot;y&quot;:-16.24437036075009},&quot;rotate&quot;:0.16567988901875036,&quot;skewX&quot;:-8.90469309025095e-17,&quot;scale&quot;:{&quot;x&quot;:0.241749885719853,&quot;y&quot;:0.24174988571985284}},&quot;opacity&quot;:0.99,&quot;image&quot;:{&quot;url&quot;:&quot;https://icons.cdn.biorender.com/biorender/5f35964d8d485800287e50a6/5f32bc680be41f0028c4b1b3.png&quot;,&quot;fallbackUrl&quot;:&quot;sources/icons/5f35964d8d485800287e50a6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4d61ee0d-d572-432a-97f5-4ac999848760&quot;,&quot;order&quot;:&quot;3&quot;}},&quot;a2a360f0-c420-4766-b6d9-9c14e54a31f4&quot;:{&quot;type&quot;:&quot;FIGURE_OBJECT&quot;,&quot;id&quot;:&quot;a2a360f0-c420-4766-b6d9-9c14e54a31f4&quot;,&quot;name&quot;:&quot;Spheroidal cell&quot;,&quot;relativeTransform&quot;:{&quot;translate&quot;:{&quot;x&quot;:7.294163195571001,&quot;y&quot;:24.419698987944273},&quot;rotate&quot;:-2.679149151447384,&quot;skewX&quot;:0,&quot;scale&quot;:{&quot;x&quot;:0.2417498857198528,&quot;y&quot;:0.2417498857198529}},&quot;opacity&quot;:0.57,&quot;image&quot;:{&quot;url&quot;:&quot;https://icons.cdn.biorender.com/biorender/5f35964d8d485800287e50a6/5f32bc680be41f0028c4b1b3.png&quot;,&quot;fallbackUrl&quot;:&quot;sources/icons/5f35964d8d485800287e50a6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4d61ee0d-d572-432a-97f5-4ac999848760&quot;,&quot;order&quot;:&quot;5&quot;}},&quot;56654d39-7be5-4232-aaf5-c70668c31a57&quot;:{&quot;type&quot;:&quot;FIGURE_OBJECT&quot;,&quot;id&quot;:&quot;56654d39-7be5-4232-aaf5-c70668c31a57&quot;,&quot;name&quot;:&quot;Spheroidal cell&quot;,&quot;relativeTransform&quot;:{&quot;translate&quot;:{&quot;x&quot;:-13.90975267744826,&quot;y&quot;:16.572688916502663},&quot;rotate&quot;:0,&quot;skewX&quot;:0,&quot;scale&quot;:{&quot;x&quot;:0.2417498857198528,&quot;y&quot;:0.2417498857198528}},&quot;opacity&quot;:0.99,&quot;image&quot;:{&quot;url&quot;:&quot;https://icons.cdn.biorender.com/biorender/5f35964d8d485800287e50a6/5f32bc680be41f0028c4b1b3.png&quot;,&quot;fallbackUrl&quot;:&quot;sources/icons/5f35964d8d485800287e50a6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4d61ee0d-d572-432a-97f5-4ac999848760&quot;,&quot;order&quot;:&quot;55&quot;}},&quot;063f0f3d-b875-4e26-9bda-04a1eec2cc24&quot;:{&quot;type&quot;:&quot;FIGURE_OBJECT&quot;,&quot;id&quot;:&quot;063f0f3d-b875-4e26-9bda-04a1eec2cc24&quot;,&quot;name&quot;:&quot;Spheroidal cell&quot;,&quot;relativeTransform&quot;:{&quot;translate&quot;:{&quot;x&quot;:-6.392911515294985,&quot;y&quot;:-16.243844502343528},&quot;rotate&quot;:-2.447656139780367,&quot;skewX&quot;:-2.968231030083657e-16,&quot;scale&quot;:{&quot;x&quot;:0.24174988571985273,&quot;y&quot;:0.24174988571985284}},&quot;opacity&quot;:1,&quot;image&quot;:{&quot;url&quot;:&quot;https://icons.cdn.biorender.com/biorender/5f35964d8d485800287e50a6/5f32bc680be41f0028c4b1b3.png&quot;,&quot;fallbackUrl&quot;:&quot;sources/icons/5f35964d8d485800287e50a6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4d61ee0d-d572-432a-97f5-4ac999848760&quot;,&quot;order&quot;:&quot;6&quot;}},&quot;c9d5b5fa-9d00-4078-af8d-22a9e57320e1&quot;:{&quot;type&quot;:&quot;FIGURE_OBJECT&quot;,&quot;id&quot;:&quot;c9d5b5fa-9d00-4078-af8d-22a9e57320e1&quot;,&quot;name&quot;:&quot;Spheroidal cell&quot;,&quot;relativeTransform&quot;:{&quot;translate&quot;:{&quot;x&quot;:1.8467286795415196,&quot;y&quot;:2.1003327761401644},&quot;rotate&quot;:2.5130506582729475,&quot;skewX&quot;:1.7809386180501936e-16,&quot;scale&quot;:{&quot;x&quot;:0.2417498857198528,&quot;y&quot;:0.24174988571985268}},&quot;opacity&quot;:1,&quot;image&quot;:{&quot;url&quot;:&quot;https://icons.cdn.biorender.com/biorender/5f35964d8d485800287e50a6/5f32bc680be41f0028c4b1b3.png&quot;,&quot;fallbackUrl&quot;:&quot;sources/icons/5f35964d8d485800287e50a6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4d61ee0d-d572-432a-97f5-4ac999848760&quot;,&quot;order&quot;:&quot;95&quot;}},&quot;f51df748-83fa-46b5-bd68-4b4104f75f25&quot;:{&quot;type&quot;:&quot;FIGURE_OBJECT&quot;,&quot;id&quot;:&quot;f51df748-83fa-46b5-bd68-4b4104f75f25&quot;,&quot;name&quot;:&quot;Spheroidal cell&quot;,&quot;relativeTransform&quot;:{&quot;translate&quot;:{&quot;x&quot;:21.869106074168144,&quot;y&quot;:9.829082876024927},&quot;rotate&quot;:2.5130506582729475,&quot;skewX&quot;:1.7809386180501936e-16,&quot;scale&quot;:{&quot;x&quot;:0.2417498857198528,&quot;y&quot;:0.24174988571985268}},&quot;opacity&quot;:1,&quot;image&quot;:{&quot;url&quot;:&quot;https://icons.cdn.biorender.com/biorender/5f35964d8d485800287e50a6/5f32bc680be41f0028c4b1b3.png&quot;,&quot;fallbackUrl&quot;:&quot;sources/icons/5f35964d8d485800287e50a6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4d61ee0d-d572-432a-97f5-4ac999848760&quot;,&quot;order&quot;:&quot;7&quot;}},&quot;9d7da313-fca7-4d8c-8e57-0c17d9664660&quot;:{&quot;type&quot;:&quot;FIGURE_OBJECT&quot;,&quot;id&quot;:&quot;9d7da313-fca7-4d8c-8e57-0c17d9664660&quot;,&quot;relativeTransform&quot;:{&quot;translate&quot;:{&quot;x&quot;:-220.1332437007812,&quot;y&quot;:0.26193683216265384},&quot;rotate&quot;:0,&quot;skewX&quot;:0,&quot;scale&quot;:{&quot;x&quot;:1,&quot;y&quot;:1}},&quot;opacity&quot;:1,&quot;path&quot;:{&quot;type&quot;:&quot;POLY_LINE&quot;,&quot;points&quot;:[{&quot;x&quot;:-292.7005906251258,&quot;y&quot;:338.1609003407448},{&quot;x&quot;:0,&quot;y&quot;:-338.1609003407448},{&quot;x&quot;:292.7005906251258,&quot;y&quot;:338.1609003407448}],&quot;closed&quot;:false},&quot;pathStyles&quot;:[{&quot;type&quot;:&quot;FILL&quot;,&quot;fillStyle&quot;:&quot;rgba(0,0,0,0)&quot;},{&quot;type&quot;:&quot;STROKE&quot;,&quot;strokeStyle&quot;:&quot;rgba(255,255,255,1)&quot;,&quot;lineWidth&quot;:2.177269461739058,&quot;lineJoin&quot;:&quot;round&quot;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7&quot;},&quot;connectorInfo&quot;:{&quot;connectedObjects&quot;:[],&quot;type&quot;:&quot;QUADRATIC&quot;,&quot;offset&quot;:{&quot;x&quot;:0,&quot;y&quot;:0},&quot;bending&quot;:-0.1,&quot;firstElementIsHead&quot;:true,&quot;customized&quot;:false}},&quot;54a560f7-6a8b-4634-9a9f-6cb69b0a31dc&quot;:{&quot;id&quot;:&quot;54a560f7-6a8b-4634-9a9f-6cb69b0a31dc&quot;,&quot;name&quot;:&quot;Stem Cell&quot;,&quot;displayName&quot;:&quot;&quot;,&quot;type&quot;:&quot;FIGURE_OBJECT&quot;,&quot;relativeTransform&quot;:{&quot;translate&quot;:{&quot;x&quot;:-292.0812009138241,&quot;y&quot;:-228.0972756429212},&quot;rotate&quot;:0.7170888444813375,&quot;skewX&quot;:0.0020163168230016688,&quot;scale&quot;:{&quot;x&quot;:0.44530727980110885,&quot;y&quot;:0.4454316384240946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8&quot;}},&quot;a43b7551-de6e-4ebf-a47b-84b9d62b7204&quot;:{&quot;type&quot;:&quot;FIGURE_OBJECT&quot;,&quot;id&quot;:&quot;a43b7551-de6e-4ebf-a47b-84b9d62b7204&quot;,&quot;relativeTransform&quot;:{&quot;translate&quot;:{&quot;x&quot;:-322.2325229579806,&quot;y&quot;:-250.36401417003555},&quot;rotate&quot;:0.29878702812547275,&quot;skewX&quot;:0,&quot;scale&quot;:{&quot;x&quot;:1,&quot;y&quot;:1}},&quot;opacity&quot;:1,&quot;path&quot;:{&quot;type&quot;:&quot;POLY_LINE&quot;,&quot;points&quot;:[{&quot;x&quot;:8.999389625999456,&quot;y&quot;:15.786294110089074},{&quot;x&quot;:10.623828210908485,&quot;y&quot;:8.426522744120973},{&quot;x&quot;:12.921539495590352,&quot;y&quot;:1.7762841112896126},{&quot;x&quot;:16.313325713478562,&quot;y&quot;:-2.4361826890700513},{&quot;x&quot;:21.170500724157378,&quot;y&quot;:-6.670107168577886},{&quot;x&quot;:27.177684884649537,&quot;y&quot;:-9.639466204673568},{&quot;x&quot;:34.194431932342226,&quot;y&quot;:-9.639466204673568},{&quot;x&quot;:42.26240925705507,&quot;y&quot;:-9.639466204673568},{&quot;x&quot;:44.642308267722434,&quot;y&quot;:-18.751625243542662},{&quot;x&quot;:33.29286864651442,&quot;y&quot;:-23.391915207997897},{&quot;x&quot;:6.578976324880131,&quot;y&quot;:-11.036435488762834},{&quot;x&quot;:-2.6153459761072497,&quot;y&quot;:11.436047554821158},{&quot;x&quot;:4.5175638328687455,&quot;y&quot;:36.80173708872451},{&quot;x&quot;:29.20740582386263,&quot;y&quot;:45.15939224577892},{&quot;x&quot;:32.71619296567128,&quot;y&quot;:38.01186247217919},{&quot;x&quot;:19.56784918794719,&quot;y&quot;:31.292111429494412},{&quot;x&quot;:12.678444666442886,&quot;y&quot;:24.67483117852987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,&quot;dashArray&quot;:[0]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7&quot;},&quot;connectorInfo&quot;:{&quot;connectedObjects&quot;:[],&quot;type&quot;:&quot;CUBIC&quot;,&quot;offset&quot;:{&quot;x&quot;:0,&quot;y&quot;:0},&quot;bending&quot;:0.1,&quot;firstElementIsHead&quot;:true,&quot;customized&quot;:true}},&quot;e8d0fc8d-9936-4771-9905-c361739b9cf8&quot;:{&quot;type&quot;:&quot;FIGURE_OBJECT&quot;,&quot;id&quot;:&quot;e8d0fc8d-9936-4771-9905-c361739b9cf8&quot;,&quot;relativeTransform&quot;:{&quot;translate&quot;:{&quot;x&quot;:-245.35856755046382,&quot;y&quot;:-213.2488531929974},&quot;rotate&quot;:0.5311813288371359,&quot;skewX&quot;:0,&quot;scale&quot;:{&quot;x&quot;:1,&quot;y&quot;:1}},&quot;opacity&quot;:1,&quot;path&quot;:{&quot;type&quot;:&quot;POLY_LINE&quot;,&quot;points&quot;:[{&quot;x&quot;:-29.529566666848506,&quot;y&quot;:26.39141931860429},{&quot;x&quot;:-23.93570703974765,&quot;y&quot;:15.241835017470363},{&quot;x&quot;:-23.69602598824721,&quot;y&quot;:8.218650628603033},{&quot;x&quot;:-25.03920176655603,&quot;y&quot;:2.5578001768391734},{&quot;x&quot;:-28.679481169030584,&quot;y&quot;:-4.59305933967551},{&quot;x&quot;:-33.203887902970415,&quot;y&quot;:-7.825955412431301},{&quot;x&quot;:-40.17143398469378,&quot;y&quot;:-11.194494896858787},{&quot;x&quot;:-41.962229241306105,&quot;y&quot;:-18.741849681780888},{&quot;x&quot;:-31.310847396057348,&quot;y&quot;:-23.37972057905923},{&quot;x&quot;:-12.8968726225025,&quot;y&quot;:-9.115716847041508},{&quot;x&quot;:-8.17744218327313,&quot;y&quot;:10.774449701090887},{&quot;x&quot;:-13.64112000400041,&quot;y&quot;:28.50315472101424},{&quot;x&quot;:-31.504856433757126,&quot;y&quot;:40.27541918913842},{&quot;x&quot;:-39.050110914932866,&quot;y&quot;:38.451203060347396},{&quot;x&quot;:-40.20810621182668,&quot;y&quot;:33.5708007292276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8&quot;},&quot;connectorInfo&quot;:{&quot;connectedObjects&quot;:[],&quot;type&quot;:&quot;CUBIC&quot;,&quot;offset&quot;:{&quot;x&quot;:0,&quot;y&quot;:0},&quot;bending&quot;:0.1,&quot;firstElementIsHead&quot;:true,&quot;customized&quot;:true}},&quot;3e96ccdc-9879-4985-a2b5-e4a77a435921&quot;:{&quot;id&quot;:&quot;3e96ccdc-9879-4985-a2b5-e4a77a435921&quot;,&quot;name&quot;:&quot;Stem Cell&quot;,&quot;displayName&quot;:&quot;&quot;,&quot;type&quot;:&quot;FIGURE_OBJECT&quot;,&quot;relativeTransform&quot;:{&quot;translate&quot;:{&quot;x&quot;:-223.77464647502362,&quot;y&quot;:-196.1669736367046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85&quot;}},&quot;6852d190-5859-460d-a0be-fe4b83312736&quot;:{&quot;type&quot;:&quot;FIGURE_OBJECT&quot;,&quot;id&quot;:&quot;6852d190-5859-460d-a0be-fe4b83312736&quot;,&quot;relativeTransform&quot;:{&quot;translate&quot;:{&quot;x&quot;:-260.53256998853954,&quot;y&quot;:-203.4994305659904},&quot;rotate&quot;:-0.14041793565262076,&quot;skewX&quot;:0,&quot;scale&quot;:{&quot;x&quot;:0.9999999999999994,&quot;y&quot;:0.9999999999999994}},&quot;opacity&quot;:1,&quot;path&quot;:{&quot;type&quot;:&quot;POLY_LINE&quot;,&quot;points&quot;:[{&quot;x&quot;:8.999389625999456,&quot;y&quot;:15.786294110089074},{&quot;x&quot;:10.623828210908485,&quot;y&quot;:8.426522744120973},{&quot;x&quot;:12.921539495590352,&quot;y&quot;:1.7762841112896126},{&quot;x&quot;:21.170500724157378,&quot;y&quot;:-6.670107168577886},{&quot;x&quot;:27.177684884649537,&quot;y&quot;:-9.639466204673568},{&quot;x&quot;:34.194431932342226,&quot;y&quot;:-9.639466204673568},{&quot;x&quot;:42.26240925705507,&quot;y&quot;:-9.639466204673568},{&quot;x&quot;:44.642308267722434,&quot;y&quot;:-18.751625243542662},{&quot;x&quot;:33.29286864651442,&quot;y&quot;:-23.391915207997897},{&quot;x&quot;:6.578976324880131,&quot;y&quot;:-11.036435488762834},{&quot;x&quot;:-2.6153459761072497,&quot;y&quot;:11.436047554821158},{&quot;x&quot;:4.5175638328687455,&quot;y&quot;:36.80173708872451},{&quot;x&quot;:29.20740582386263,&quot;y&quot;:45.15939224577892},{&quot;x&quot;:32.71619296567128,&quot;y&quot;:38.01186247217919},{&quot;x&quot;:19.56784918794719,&quot;y&quot;:31.292111429494412},{&quot;x&quot;:12.678444666442886,&quot;y&quot;:24.67483117852987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,&quot;dashArray&quot;:[0]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&quot;},&quot;connectorInfo&quot;:{&quot;connectedObjects&quot;:[],&quot;type&quot;:&quot;CUBIC&quot;,&quot;offset&quot;:{&quot;x&quot;:0,&quot;y&quot;:0},&quot;bending&quot;:0.1,&quot;firstElementIsHead&quot;:true,&quot;customized&quot;:true}},&quot;76ccf470-8bce-46bf-aeaf-0b4ae8774cb5&quot;:{&quot;type&quot;:&quot;FIGURE_OBJECT&quot;,&quot;id&quot;:&quot;76ccf470-8bce-46bf-aeaf-0b4ae8774cb5&quot;,&quot;relativeTransform&quot;:{&quot;translate&quot;:{&quot;x&quot;:-175.17261107059073,&quot;y&quot;:-202.59521384726298},&quot;rotate&quot;:0.09197636505904243,&quot;skewX&quot;:0,&quot;scale&quot;:{&quot;x&quot;:0.9999999999999999,&quot;y&quot;:0.9999999999999999}},&quot;opacity&quot;:1,&quot;path&quot;:{&quot;type&quot;:&quot;POLY_LINE&quot;,&quot;points&quot;:[{&quot;x&quot;:-29.529566666848506,&quot;y&quot;:26.39141931860429},{&quot;x&quot;:-23.93570703974765,&quot;y&quot;:15.241835017470363},{&quot;x&quot;:-23.69602598824721,&quot;y&quot;:8.218650628603033},{&quot;x&quot;:-25.03920176655603,&quot;y&quot;:2.5578001768391734},{&quot;x&quot;:-28.679481169030584,&quot;y&quot;:-4.59305933967551},{&quot;x&quot;:-33.203887902970415,&quot;y&quot;:-7.825955412431301},{&quot;x&quot;:-40.17143398469378,&quot;y&quot;:-11.194494896858787},{&quot;x&quot;:-41.962229241306105,&quot;y&quot;:-18.741849681780888},{&quot;x&quot;:-31.310847396057348,&quot;y&quot;:-23.37972057905923},{&quot;x&quot;:-12.8968726225025,&quot;y&quot;:-9.115716847041508},{&quot;x&quot;:-8.17744218327313,&quot;y&quot;:10.774449701090887},{&quot;x&quot;:-13.64112000400041,&quot;y&quot;:28.50315472101424},{&quot;x&quot;:-31.504856433757126,&quot;y&quot;:40.27541918913842},{&quot;x&quot;:-39.050110914932866,&quot;y&quot;:38.451203060347396},{&quot;x&quot;:-40.20810621182668,&quot;y&quot;:33.5708007292276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5&quot;},&quot;connectorInfo&quot;:{&quot;connectedObjects&quot;:[],&quot;type&quot;:&quot;CUBIC&quot;,&quot;offset&quot;:{&quot;x&quot;:0,&quot;y&quot;:0},&quot;bending&quot;:0.1,&quot;firstElementIsHead&quot;:true,&quot;customized&quot;:true}},&quot;54622ee0-9d17-4a1f-986e-0c921e1113b2&quot;:{&quot;id&quot;:&quot;54622ee0-9d17-4a1f-986e-0c921e1113b2&quot;,&quot;name&quot;:&quot;Stem Cell&quot;,&quot;displayName&quot;:&quot;&quot;,&quot;type&quot;:&quot;FIGURE_OBJECT&quot;,&quot;relativeTransform&quot;:{&quot;translate&quot;:{&quot;x&quot;:-156.34549159555797,&quot;y&quot;:-238.5639470987515},&quot;rotate&quot;:-0.30457671527783503,&quot;skewX&quot;:0.0020163168230019147,&quot;scale&quot;:{&quot;x&quot;:0.44530727980110874,&quot;y&quot;:0.4454316384240949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6&quot;}},&quot;52ae4516-7c84-4d06-9975-ae208e025456&quot;:{&quot;type&quot;:&quot;FIGURE_OBJECT&quot;,&quot;id&quot;:&quot;52ae4516-7c84-4d06-9975-ae208e025456&quot;,&quot;relativeTransform&quot;:{&quot;translate&quot;:{&quot;x&quot;:-191.07590325434896,&quot;y&quot;:-224.46755140140255},&quot;rotate&quot;:-0.7228785316337,&quot;skewX&quot;:1.6653345369377358e-16,&quot;scale&quot;:{&quot;x&quot;:0.9999999999999997,&quot;y&quot;:1.0000000000000038}},&quot;opacity&quot;:1,&quot;path&quot;:{&quot;type&quot;:&quot;POLY_LINE&quot;,&quot;points&quot;:[{&quot;x&quot;:8.999389625999456,&quot;y&quot;:15.786294110089074},{&quot;x&quot;:10.623828210908485,&quot;y&quot;:8.426522744120973},{&quot;x&quot;:12.921539495590352,&quot;y&quot;:1.7762841112896126},{&quot;x&quot;:16.313325713478562,&quot;y&quot;:-2.4361826890700513},{&quot;x&quot;:21.170500724157378,&quot;y&quot;:-6.670107168577886},{&quot;x&quot;:27.177684884649537,&quot;y&quot;:-9.639466204673568},{&quot;x&quot;:34.194431932342226,&quot;y&quot;:-9.639466204673568},{&quot;x&quot;:42.26240925705507,&quot;y&quot;:-9.639466204673568},{&quot;x&quot;:44.642308267722434,&quot;y&quot;:-18.751625243542662},{&quot;x&quot;:33.29286864651442,&quot;y&quot;:-23.391915207997897},{&quot;x&quot;:6.578976324880131,&quot;y&quot;:-11.036435488762834},{&quot;x&quot;:-2.6153459761072497,&quot;y&quot;:11.436047554821158},{&quot;x&quot;:4.5175638328687455,&quot;y&quot;:36.80173708872451},{&quot;x&quot;:29.20740582386263,&quot;y&quot;:45.15939224577892},{&quot;x&quot;:32.71619296567128,&quot;y&quot;:38.01186247217919},{&quot;x&quot;:19.56784918794719,&quot;y&quot;:31.292111429494412},{&quot;x&quot;:12.678444666442886,&quot;y&quot;:24.67483117852987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,&quot;dashArray&quot;:[0]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7&quot;},&quot;connectorInfo&quot;:{&quot;connectedObjects&quot;:[],&quot;type&quot;:&quot;CUBIC&quot;,&quot;offset&quot;:{&quot;x&quot;:0,&quot;y&quot;:0},&quot;bending&quot;:0.1,&quot;firstElementIsHead&quot;:true,&quot;customized&quot;:true}},&quot;bf7cc0b0-6e77-4965-845d-a2a8fa9a3c29&quot;:{&quot;type&quot;:&quot;FIGURE_OBJECT&quot;,&quot;id&quot;:&quot;bf7cc0b0-6e77-4965-845d-a2a8fa9a3c29&quot;,&quot;relativeTransform&quot;:{&quot;translate&quot;:{&quot;x&quot;:-119.29341485265036,&quot;y&quot;:-270.66727600240375},&quot;rotate&quot;:-0.4904842309220367,&quot;skewX&quot;:-5.551115123125783e-17,&quot;scale&quot;:{&quot;x&quot;:1,&quot;y&quot;:1.0000000000000002}},&quot;opacity&quot;:1,&quot;path&quot;:{&quot;type&quot;:&quot;POLY_LINE&quot;,&quot;points&quot;:[{&quot;x&quot;:-29.529566666848506,&quot;y&quot;:26.39141931860429},{&quot;x&quot;:-23.93570703974765,&quot;y&quot;:15.241835017470363},{&quot;x&quot;:-23.69602598824721,&quot;y&quot;:8.218650628603033},{&quot;x&quot;:-25.03920176655603,&quot;y&quot;:2.5578001768391734},{&quot;x&quot;:-28.679481169030584,&quot;y&quot;:-4.59305933967551},{&quot;x&quot;:-33.203887902970415,&quot;y&quot;:-7.825955412431301},{&quot;x&quot;:-40.17143398469378,&quot;y&quot;:-11.194494896858787},{&quot;x&quot;:-41.962229241306105,&quot;y&quot;:-18.741849681780888},{&quot;x&quot;:-31.310847396057348,&quot;y&quot;:-23.37972057905923},{&quot;x&quot;:-12.8968726225025,&quot;y&quot;:-9.115716847041508},{&quot;x&quot;:-8.17744218327313,&quot;y&quot;:10.774449701090887},{&quot;x&quot;:-13.64112000400041,&quot;y&quot;:28.50315472101424},{&quot;x&quot;:-31.504856433757126,&quot;y&quot;:40.27541918913842},{&quot;x&quot;:-39.050110914932866,&quot;y&quot;:38.451203060347396},{&quot;x&quot;:-40.20810621182668,&quot;y&quot;:33.5708007292276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8&quot;},&quot;connectorInfo&quot;:{&quot;connectedObjects&quot;:[],&quot;type&quot;:&quot;CUBIC&quot;,&quot;offset&quot;:{&quot;x&quot;:0,&quot;y&quot;:0},&quot;bending&quot;:0.1,&quot;firstElementIsHead&quot;:true,&quot;customized&quot;:true}},&quot;00d290b6-122d-45f2-8cfc-b3756aaff126&quot;:{&quot;type&quot;:&quot;FIGURE_OBJECT&quot;,&quot;id&quot;:&quot;00d290b6-122d-45f2-8cfc-b3756aaff126&quot;,&quot;relativeTransform&quot;:{&quot;translate&quot;:{&quot;x&quot;:-162.03142677036112,&quot;y&quot;:-323.32105369606353},&quot;rotate&quot;:0,&quot;skewX&quot;:0,&quot;scale&quot;:{&quot;x&quot;:1,&quot;y&quot;:1}},&quot;opacity&quot;:1,&quot;path&quot;:{&quot;type&quot;:&quot;POLY_LINE&quot;,&quot;points&quot;:[{&quot;x&quot;:-35.196350008147306,&quot;y&quot;:19.709956004562486},{&quot;x&quot;:35.196350008147306,&quot;y&quot;:-19.709956004562486}],&quot;closed&quot;:false},&quot;pathStyles&quot;:[{&quot;type&quot;:&quot;FILL&quot;,&quot;fillStyle&quot;:&quot;rgba(0,0,0,0)&quot;},{&quot;type&quot;:&quot;STROKE&quot;,&quot;strokeStyle&quot;:&quot;rgba(148,196,125,1)&quot;,&quot;lineWidth&quot;:3,&quot;lineJoin&quot;:&quot;round&quot;,&quot;dashArray&quot;:[0]}],&quot;isLocked&quot;:false,&quot;parent&quot;:{&quot;type&quot;:&quot;CHILD&quot;,&quot;parentId&quot;:&quot;147f0b94-aeea-4507-b9c8-c684c89d8226&quot;,&quot;order&quot;:&quot;999&quot;},&quot;connectorInfo&quot;:{&quot;connectedObjects&quot;:[],&quot;type&quot;:&quot;LINE&quot;,&quot;offset&quot;:{&quot;x&quot;:0,&quot;y&quot;:0},&quot;bending&quot;:0.1,&quot;firstElementIsHead&quot;:true,&quot;customized&quot;:false}},&quot;c02a51e9-d0bd-4990-9602-c89577a75d51&quot;:{&quot;id&quot;:&quot;c02a51e9-d0bd-4990-9602-c89577a75d51&quot;,&quot;type&quot;:&quot;FIGURE_OBJECT&quot;,&quot;relativeTransform&quot;:{&quot;translate&quot;:{&quot;x&quot;:-75.15221012507118,&quot;y&quot;:-345.4394488259123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Times New Roman&quot;,&quot;fontSize&quot;:18.666666666666664,&quot;color&quot;:&quot;rgba(148,196,125,1)&quot;,&quot;fontWeight&quot;:&quot;bold&quot;,&quot;fontStyle&quot;:&quot;normal&quot;,&quot;decoration&quot;:&quot;none&quot;},&quot;range&quot;:[0,8]}],&quot;text&quot;:&quot;Hub cells&quot;}],&quot;_lastCaretLocation&quot;:{&quot;lineIndex&quot;:0,&quot;runIndex&quot;:-1,&quot;charIndex&quot;:-1,&quot;endOfLine&quot;:true}},&quot;format&quot;:&quot;BETTER_TEXT&quot;,&quot;size&quot;:{&quot;x&quot;:95.73407202216072,&quot;y&quot;:25.34137200586605},&quot;targetSize&quot;:{&quot;x&quot;:95.73407202216072,&quot;y&quot;:25.34137200586605}},&quot;parent&quot;:{&quot;type&quot;:&quot;CHILD&quot;,&quot;parentId&quot;:&quot;147f0b94-aeea-4507-b9c8-c684c89d8226&quot;,&quot;order&quot;:&quot;9995&quot;}},&quot;cc495f69-6c65-4c95-aeea-0c564415fca8&quot;:{&quot;type&quot;:&quot;FIGURE_OBJECT&quot;,&quot;id&quot;:&quot;cc495f69-6c65-4c95-aeea-0c564415fca8&quot;,&quot;relativeTransform&quot;:{&quot;translate&quot;:{&quot;x&quot;:-99.94082875830316,&quot;y&quot;:-283.75611968921993},&quot;rotate&quot;:0,&quot;skewX&quot;:0,&quot;scale&quot;:{&quot;x&quot;:1,&quot;y&quot;:1}},&quot;opacity&quot;:1,&quot;path&quot;:{&quot;type&quot;:&quot;POLY_LINE&quot;,&quot;points&quot;:[{&quot;x&quot;:-35.196350008147306,&quot;y&quot;:19.709956004562486},{&quot;x&quot;:35.196350008147306,&quot;y&quot;:-19.709956004562486}],&quot;closed&quot;:false},&quot;pathStyles&quot;:[{&quot;type&quot;:&quot;FILL&quot;,&quot;fillStyle&quot;:&quot;rgba(0,0,0,0)&quot;},{&quot;type&quot;:&quot;STROKE&quot;,&quot;strokeStyle&quot;:&quot;rgba(49,126,194,1)&quot;,&quot;lineWidth&quot;:4,&quot;lineJoin&quot;:&quot;round&quot;}],&quot;isLocked&quot;:false,&quot;parent&quot;:{&quot;type&quot;:&quot;CHILD&quot;,&quot;parentId&quot;:&quot;147f0b94-aeea-4507-b9c8-c684c89d8226&quot;,&quot;order&quot;:&quot;9996&quot;},&quot;connectorInfo&quot;:{&quot;connectedObjects&quot;:[],&quot;type&quot;:&quot;LINE&quot;,&quot;offset&quot;:{&quot;x&quot;:0,&quot;y&quot;:0},&quot;bending&quot;:0.1,&quot;firstElementIsHead&quot;:true,&quot;customized&quot;:false}},&quot;01f813f1-dc20-4b32-bdcc-0b78eda53829&quot;:{&quot;id&quot;:&quot;01f813f1-dc20-4b32-bdcc-0b78eda53829&quot;,&quot;type&quot;:&quot;FIGURE_OBJECT&quot;,&quot;relativeTransform&quot;:{&quot;translate&quot;:{&quot;x&quot;:17.911178647245833,&quot;y&quot;:-296.998534155335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Times New Roman&quot;,&quot;fontSize&quot;:18.666666666666664,&quot;color&quot;:&quot;rgba(49,126,194,1)&quot;,&quot;fontWeight&quot;:&quot;bold&quot;,&quot;fontStyle&quot;:&quot;normal&quot;,&quot;decoration&quot;:&quot;none&quot;},&quot;range&quot;:[0,22]}],&quot;text&quot;:&quot;Cyst Stem Cells (CySCs)&quot;}],&quot;_lastCaretLocation&quot;:{&quot;lineIndex&quot;:0,&quot;runIndex&quot;:0,&quot;charIndex&quot;:0}},&quot;format&quot;:&quot;BETTER_TEXT&quot;,&quot;size&quot;:{&quot;x&quot;:157.67965354267875,&quot;y&quot;:43.093333333333334},&quot;targetSize&quot;:{&quot;x&quot;:157.67965354267875,&quot;y&quot;:43.093333333333334}},&quot;parent&quot;:{&quot;type&quot;:&quot;CHILD&quot;,&quot;parentId&quot;:&quot;147f0b94-aeea-4507-b9c8-c684c89d8226&quot;,&quot;order&quot;:&quot;9997&quot;}},&quot;e6d4f343-3f7b-455d-b4f3-972b9afe2c86&quot;:{&quot;type&quot;:&quot;FIGURE_OBJECT&quot;,&quot;id&quot;:&quot;e6d4f343-3f7b-455d-b4f3-972b9afe2c86&quot;,&quot;relativeTransform&quot;:{&quot;translate&quot;:{&quot;x&quot;:-217.22378378518928,&quot;y&quot;:34.364570387365006},&quot;rotate&quot;:0,&quot;skewX&quot;:0,&quot;scale&quot;:{&quot;x&quot;:1,&quot;y&quot;:1}},&quot;opacity&quot;:1,&quot;path&quot;:{&quot;type&quot;:&quot;POLY_LINE&quot;,&quot;points&quot;:[{&quot;x&quot;:72.63976739019006,&quot;y&quot;:-255.50487597403847},{&quot;x&quot;:200.6191950464397,&quot;y&quot;:-192.87599804464725}],&quot;closed&quot;:false},&quot;pathStyles&quot;:[{&quot;type&quot;:&quot;FILL&quot;,&quot;fillStyle&quot;:&quot;rgba(0,0,0,0)&quot;},{&quot;type&quot;:&quot;STROKE&quot;,&quot;strokeStyle&quot;:&quot;rgba(254,240,222,1)&quot;,&quot;lineWidth&quot;:3,&quot;lineJoin&quot;:&quot;round&quot;}],&quot;isLocked&quot;:false,&quot;parent&quot;:{&quot;type&quot;:&quot;CHILD&quot;,&quot;parentId&quot;:&quot;147f0b94-aeea-4507-b9c8-c684c89d8226&quot;,&quot;order&quot;:&quot;9998&quot;},&quot;connectorInfo&quot;:{&quot;connectedObjects&quot;:[],&quot;type&quot;:&quot;LINE&quot;,&quot;offset&quot;:{&quot;x&quot;:0,&quot;y&quot;:0},&quot;bending&quot;:0.1,&quot;firstElementIsHead&quot;:true,&quot;customized&quot;:false}},&quot;70656d7d-a1a6-4491-a608-18cbd8813969&quot;:{&quot;id&quot;:&quot;70656d7d-a1a6-4491-a608-18cbd8813969&quot;,&quot;type&quot;:&quot;FIGURE_OBJECT&quot;,&quot;relativeTransform&quot;:{&quot;translate&quot;:{&quot;x&quot;:60.826207135546525,&quot;y&quot;:-153.14369665778827},&quot;rotate&quot;:0},&quot;text&quot;:{&quot;textData&quot;:{&quot;lineSpacing&quot;:&quot;normal&quot;,&quot;alignment&quot;:&quot;left&quot;,&quot;verticalAlign&quot;:&quot;TOP&quot;,&quot;lines&quot;:[{&quot;runs&quot;:[{&quot;style&quot;:{&quot;fontFamily&quot;:&quot;Times New Roman&quot;,&quot;fontSize&quot;:18.666666666666664,&quot;color&quot;:&quot;rgba(254,240,222,1)&quot;,&quot;fontWeight&quot;:&quot;bold&quot;,&quot;fontStyle&quot;:&quot;normal&quot;,&quot;decoration&quot;:&quot;none&quot;,&quot;script&quot;:&quot;none&quot;},&quot;range&quot;:[0,21]}],&quot;text&quot;:&quot;Germ Stem Cells (GSCs)&quot;,&quot;baseStyle&quot;:{&quot;fontFamily&quot;:&quot;Roboto&quot;,&quot;fontSize&quot;:40,&quot;color&quot;:&quot;rgba(254,240,222,1)&quot;,&quot;fontWeight&quot;:&quot;bold&quot;,&quot;fontStyle&quot;:&quot;normal&quot;,&quot;decoration&quot;:&quot;none&quot;,&quot;script&quot;:&quot;none&quot;}}],&quot;_lastCaretLocation&quot;:{&quot;lineIndex&quot;:0,&quot;runIndex&quot;:0,&quot;charIndex&quot;:21}},&quot;format&quot;:&quot;BETTER_TEXT&quot;,&quot;size&quot;:{&quot;x&quot;:141.61880449226481,&quot;y&quot;:53.49845201238389},&quot;targetSize&quot;:{&quot;x&quot;:141.61880449226481,&quot;y&quot;:53.49845201238389}},&quot;parent&quot;:{&quot;type&quot;:&quot;CHILD&quot;,&quot;parentId&quot;:&quot;147f0b94-aeea-4507-b9c8-c684c89d8226&quot;,&quot;order&quot;:&quot;9999&quot;}},&quot;7bbf7540-2de3-4b7a-9e18-247630e50e44&quot;:{&quot;id&quot;:&quot;7bbf7540-2de3-4b7a-9e18-247630e50e44&quot;,&quot;name&quot;:&quot;Stem Cell&quot;,&quot;displayName&quot;:&quot;&quot;,&quot;type&quot;:&quot;FIGURE_OBJECT&quot;,&quot;relativeTransform&quot;:{&quot;translate&quot;:{&quot;x&quot;:-323.62678470755344,&quot;y&quot;:-81.94382150957244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5&quot;}},&quot;90d4df78-0837-4fca-b680-2dbef435eddd&quot;:{&quot;id&quot;:&quot;90d4df78-0837-4fca-b680-2dbef435eddd&quot;,&quot;name&quot;:&quot;Stem Cell&quot;,&quot;displayName&quot;:&quot;&quot;,&quot;type&quot;:&quot;FIGURE_OBJECT&quot;,&quot;relativeTransform&quot;:{&quot;translate&quot;:{&quot;x&quot;:-303.97962556950307,&quot;y&quot;:-81.94387455558919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7&quot;}},&quot;92768861-6058-4fde-8f61-44a81474c806&quot;:{&quot;type&quot;:&quot;FIGURE_OBJECT&quot;,&quot;id&quot;:&quot;92768861-6058-4fde-8f61-44a81474c806&quot;,&quot;relativeTransform&quot;:{&quot;translate&quot;:{&quot;x&quot;:-356.73533952372486,&quot;y&quot;:-89.03854104416922},&quot;rotate&quot;:-0.14041793565262076,&quot;skewX&quot;:0,&quot;scale&quot;:{&quot;x&quot;:0.9999999999999994,&quot;y&quot;:0.9999999999999994}},&quot;opacity&quot;:1,&quot;path&quot;:{&quot;type&quot;:&quot;POLY_LINE&quot;,&quot;points&quot;:[{&quot;x&quot;:8.999389625999456,&quot;y&quot;:15.786294110089074},{&quot;x&quot;:10.623828210908485,&quot;y&quot;:8.426522744120973},{&quot;x&quot;:12.921539495590352,&quot;y&quot;:1.7762841112896126},{&quot;x&quot;:21.170500724157378,&quot;y&quot;:-6.670107168577886},{&quot;x&quot;:27.177684884649537,&quot;y&quot;:-9.639466204673568},{&quot;x&quot;:34.194431932342226,&quot;y&quot;:-9.639466204673568},{&quot;x&quot;:42.26240925705507,&quot;y&quot;:-9.639466204673568},{&quot;x&quot;:44.642308267722434,&quot;y&quot;:-18.751625243542662},{&quot;x&quot;:33.29286864651442,&quot;y&quot;:-23.391915207997897},{&quot;x&quot;:6.578976324880131,&quot;y&quot;:-11.036435488762834},{&quot;x&quot;:-2.6153459761072497,&quot;y&quot;:11.436047554821158},{&quot;x&quot;:4.5175638328687455,&quot;y&quot;:36.80173708872451},{&quot;x&quot;:29.20740582386263,&quot;y&quot;:45.15939224577892},{&quot;x&quot;:32.71619296567128,&quot;y&quot;:38.01186247217919},{&quot;x&quot;:19.56784918794719,&quot;y&quot;:31.292111429494412},{&quot;x&quot;:12.678444666442886,&quot;y&quot;:24.67483117852987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,&quot;dashArray&quot;:[0]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75&quot;},&quot;connectorInfo&quot;:{&quot;connectedObjects&quot;:[],&quot;type&quot;:&quot;CUBIC&quot;,&quot;offset&quot;:{&quot;x&quot;:0,&quot;y&quot;:0},&quot;bending&quot;:0.1,&quot;firstElementIsHead&quot;:true,&quot;customized&quot;:true}},&quot;a72bc41a-8078-4fe7-87d1-4389c3cf9075&quot;:{&quot;type&quot;:&quot;FIGURE_OBJECT&quot;,&quot;id&quot;:&quot;a72bc41a-8078-4fe7-87d1-4389c3cf9075&quot;,&quot;relativeTransform&quot;:{&quot;translate&quot;:{&quot;x&quot;:-255.8615901650702,&quot;y&quot;:-88.01032432544181},&quot;rotate&quot;:0.09197636505904243,&quot;skewX&quot;:0,&quot;scale&quot;:{&quot;x&quot;:0.9999999999999999,&quot;y&quot;:0.9999999999999999}},&quot;opacity&quot;:1,&quot;path&quot;:{&quot;type&quot;:&quot;POLY_LINE&quot;,&quot;points&quot;:[{&quot;x&quot;:-29.529566666848506,&quot;y&quot;:26.39141931860429},{&quot;x&quot;:-23.93570703974765,&quot;y&quot;:15.241835017470363},{&quot;x&quot;:-23.69602598824721,&quot;y&quot;:8.218650628603033},{&quot;x&quot;:-25.03920176655603,&quot;y&quot;:2.5578001768391734},{&quot;x&quot;:-28.679481169030584,&quot;y&quot;:-4.59305933967551},{&quot;x&quot;:-33.203887902970415,&quot;y&quot;:-7.825955412431301},{&quot;x&quot;:-40.17143398469378,&quot;y&quot;:-11.194494896858787},{&quot;x&quot;:-57.64757716412292,&quot;y&quot;:-16.93481306412741},{&quot;x&quot;:-52.99078262056443,&quot;y&quot;:-26.164616717417857},{&quot;x&quot;:-31.310847396057348,&quot;y&quot;:-23.37972057905923},{&quot;x&quot;:-12.8968726225025,&quot;y&quot;:-9.115716847041508},{&quot;x&quot;:-8.17744218327313,&quot;y&quot;:10.774449701090887},{&quot;x&quot;:-13.64112000400041,&quot;y&quot;:28.50315472101424},{&quot;x&quot;:-31.504856433757126,&quot;y&quot;:40.27541918913842},{&quot;x&quot;:-53.10898219232928,&quot;y&quot;:42.268110476418684},{&quot;x&quot;:-53.76264566739766,&quot;y&quot;:35.1812987814484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8&quot;},&quot;connectorInfo&quot;:{&quot;connectedObjects&quot;:[],&quot;type&quot;:&quot;CUBIC&quot;,&quot;offset&quot;:{&quot;x&quot;:0,&quot;y&quot;:0},&quot;bending&quot;:0.1,&quot;firstElementIsHead&quot;:true,&quot;customized&quot;:true}},&quot;cf8931ab-8ecc-404f-9ac0-a2b871a13cf3&quot;:{&quot;id&quot;:&quot;cf8931ab-8ecc-404f-9ac0-a2b871a13cf3&quot;,&quot;name&quot;:&quot;Stem Cell&quot;,&quot;displayName&quot;:&quot;&quot;,&quot;type&quot;:&quot;FIGURE_OBJECT&quot;,&quot;relativeTransform&quot;:{&quot;translate&quot;:{&quot;x&quot;:-176.06901788764634,&quot;y&quot;:12.240880325228467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85&quot;}},&quot;c94433ae-bbbd-44e8-a9ea-d0de42639e26&quot;:{&quot;id&quot;:&quot;c94433ae-bbbd-44e8-a9ea-d0de42639e26&quot;,&quot;name&quot;:&quot;Stem Cell&quot;,&quot;displayName&quot;:&quot;&quot;,&quot;type&quot;:&quot;FIGURE_OBJECT&quot;,&quot;relativeTransform&quot;:{&quot;translate&quot;:{&quot;x&quot;:-156.42185874959597,&quot;y&quot;:12.240827279211707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&quot;}},&quot;61b8611e-41e0-442f-aec9-767d5fcdbccd&quot;:{&quot;id&quot;:&quot;61b8611e-41e0-442f-aec9-767d5fcdbccd&quot;,&quot;name&quot;:&quot;Stem Cell&quot;,&quot;displayName&quot;:&quot;&quot;,&quot;type&quot;:&quot;FIGURE_OBJECT&quot;,&quot;relativeTransform&quot;:{&quot;translate&quot;:{&quot;x&quot;:-176.06874722672177,&quot;y&quot;:34.05309107228456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2&quot;}},&quot;de20b0e4-b462-4d47-b993-5b299230cd7a&quot;:{&quot;id&quot;:&quot;de20b0e4-b462-4d47-b993-5b299230cd7a&quot;,&quot;name&quot;:&quot;Stem Cell&quot;,&quot;displayName&quot;:&quot;&quot;,&quot;type&quot;:&quot;FIGURE_OBJECT&quot;,&quot;relativeTransform&quot;:{&quot;translate&quot;:{&quot;x&quot;:-156.42158808867137,&quot;y&quot;:34.05303802626781},&quot;rotate&quot;:0.2778838807032443,&quot;skewX&quot;:0.0020163168230018795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5&quot;}},&quot;c118236c-2cf0-403e-a76f-372d25beb7f2&quot;:{&quot;type&quot;:&quot;FIGURE_OBJECT&quot;,&quot;id&quot;:&quot;c118236c-2cf0-403e-a76f-372d25beb7f2&quot;,&quot;relativeTransform&quot;:{&quot;translate&quot;:{&quot;x&quot;:-209.35535784394995,&quot;y&quot;:11.830116424245439},&quot;rotate&quot;:-0.14041793565262076,&quot;skewX&quot;:-5.551115123125789e-17,&quot;scale&quot;:{&quot;x&quot;:0.9999999999999994,&quot;y&quot;:0.9999999999999998}},&quot;opacity&quot;:1,&quot;path&quot;:{&quot;type&quot;:&quot;POLY_LINE&quot;,&quot;points&quot;:[{&quot;x&quot;:7.023945967836035,&quot;y&quot;:22.082951055833945},{&quot;x&quot;:8.29180626977311,&quot;y&quot;:11.787598028492894},{&quot;x&quot;:10.08515010574467,&quot;y&quot;:2.484788058382543},{&quot;x&quot;:16.523393183123865,&quot;y&quot;:-9.33060344078699},{&quot;x&quot;:21.211948598064172,&quot;y&quot;:-13.48434654249392},{&quot;x&quot;:26.93848124458306,&quot;y&quot;:-15.436208871429645},{&quot;x&quot;:48.48717032640915,&quot;y&quot;:-15.844548699855979},{&quot;x&quot;:50.1659771671511,&quot;y&quot;:-28.950589857032558},{&quot;x&quot;:25.98479677019306,&quot;y&quot;:-32.72221555217942},{&quot;x&quot;:5.134834266551548,&quot;y&quot;:-15.438523001637096},{&quot;x&quot;:-2.041254972482043,&quot;y&quot;:15.997527770872127},{&quot;x&quot;:3.5259195997746735,&quot;y&quot;:51.480794240402396},{&quot;x&quot;:22.79612828127629,&quot;y&quot;:63.172055564161504},{&quot;x&quot;:25.534706376117327,&quot;y&quot;:53.173600634853976},{&quot;x&quot;:15.272537484745367,&quot;y&quot;:43.77355193766423},{&quot;x&quot;:9.895416688707236,&quot;y&quot;:34.51684641287642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,&quot;dashArray&quot;:[0]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96&quot;},&quot;connectorInfo&quot;:{&quot;connectedObjects&quot;:[],&quot;type&quot;:&quot;CUBIC&quot;,&quot;offset&quot;:{&quot;x&quot;:0,&quot;y&quot;:0},&quot;bending&quot;:0.1,&quot;firstElementIsHead&quot;:true,&quot;customized&quot;:true}},&quot;49ceab3a-9b90-41f2-a4fb-4b4a4994c804&quot;:{&quot;type&quot;:&quot;FIGURE_OBJECT&quot;,&quot;id&quot;:&quot;49ceab3a-9b90-41f2-a4fb-4b4a4994c804&quot;,&quot;relativeTransform&quot;:{&quot;translate&quot;:{&quot;x&quot;:-110.33071672288304,&quot;y&quot;:15.706448543652634},&quot;rotate&quot;:0.09197636505904243,&quot;skewX&quot;:0,&quot;scale&quot;:{&quot;x&quot;:1,&quot;y&quot;:1}},&quot;opacity&quot;:1,&quot;path&quot;:{&quot;type&quot;:&quot;POLY_LINE&quot;,&quot;points&quot;:[{&quot;x&quot;:-27.099420242596704,&quot;y&quot;:36.72250695842128},{&quot;x&quot;:-21.965909327142437,&quot;y&quot;:21.208347521256588},{&quot;x&quot;:-21.745952914910696,&quot;y&quot;:11.435893282365138},{&quot;x&quot;:-22.97859155423524,&quot;y&quot;:3.5590671974967942},{&quot;x&quot;:-26.31929283986826,&quot;y&quot;:-6.391041403475218},{&quot;x&quot;:-30.471361876801247,&quot;y&quot;:-10.889475045652894},{&quot;x&quot;:-36.86551122069442,&quot;y&quot;:-15.576650569002016},{&quot;x&quot;:-52.9034488437623,&quot;y&quot;:-23.564052508104023},{&quot;x&quot;:-48.6298869001325,&quot;y&quot;:-36.40692104772395},{&quot;x&quot;:-28.734109826614947,&quot;y&quot;:-32.53185974144314},{&quot;x&quot;:-11.835519801406386,&quot;y&quot;:-12.684121733100605},{&quot;x&quot;:-7.504476605911072,&quot;y&quot;:14.992176030583977},{&quot;x&quot;:-12.518519074074566,&quot;y&quot;:39.66089451057075},{&quot;x&quot;:-28.9121528200257,&quot;y&quot;:56.04148619562334},{&quot;x&quot;:-53.75257045335226,&quot;y&quot;:58.33268206920284},{&quot;x&quot;:-54.631611778196344,&quot;y&quot;:48.8023953408290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97&quot;},&quot;connectorInfo&quot;:{&quot;connectedObjects&quot;:[],&quot;type&quot;:&quot;CUBIC&quot;,&quot;offset&quot;:{&quot;x&quot;:0,&quot;y&quot;:0},&quot;bending&quot;:0.1,&quot;firstElementIsHead&quot;:true,&quot;customized&quot;:true}},&quot;2aae7f6c-6808-4f1b-9f6c-676936bd1d5d&quot;:{&quot;relativeTransform&quot;:{&quot;translate&quot;:{&quot;x&quot;:-83.7721899074104,&quot;y&quot;:258.07074510360434},&quot;rotate&quot;:0,&quot;skewX&quot;:0,&quot;scale&quot;:{&quot;x&quot;:1,&quot;y&quot;:1}},&quot;type&quot;:&quot;FIGURE_OBJECT&quot;,&quot;id&quot;:&quot;2aae7f6c-6808-4f1b-9f6c-676936bd1d5d&quot;,&quot;name&quot;:&quot;Immune and cancer cell cluster (malignant conversion) 2&quot;,&quot;displayName&quot;:&quot;Immune and cancer cell cluster (malignant conversion) 2&quot;,&quot;opacity&quot;:1,&quot;source&quot;:{&quot;id&quot;:&quot;66fec7857d8583487107ad6f&quot;,&quot;type&quot;:&quot;ASSETS&quot;},&quot;pathStyles&quot;:[{&quot;type&quot;:&quot;FILL&quot;,&quot;fillStyle&quot;:&quot;rgb(0,0,0)&quot;}],&quot;isLocked&quot;:false,&quot;parent&quot;:{&quot;type&quot;:&quot;CHILD&quot;,&quot;parentId&quot;:&quot;147f0b94-aeea-4507-b9c8-c684c89d8226&quot;,&quot;order&quot;:&quot;99999998&quot;},&quot;isPremium&quot;:false},&quot;18afe04d-064d-4907-8632-72a65049703a&quot;:{&quot;type&quot;:&quot;FIGURE_OBJECT&quot;,&quot;id&quot;:&quot;18afe04d-064d-4907-8632-72a65049703a&quot;,&quot;name&quot;:&quot;Spheroidal cell&quot;,&quot;relativeTransform&quot;:{&quot;translate&quot;:{&quot;x&quot;:-10.08402104390566,&quot;y&quot;:-39.975978163216155},&quot;rotate&quot;:-2.679149151447384,&quot;skewX&quot;:0,&quot;scale&quot;:{&quot;x&quot;:0.3208198392629339,&quot;y&quot;:0.320819839262934}},&quot;opacity&quot;:0.57,&quot;image&quot;:{&quot;url&quot;:&quot;https://icons.cdn.biorender.com/biorender/5f35964d8d485800287e50b3/5f32bc680be41f0028c4b1b3.png&quot;,&quot;fallbackUrl&quot;:&quot;sources/icons/5f35964d8d485800287e50b3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2aae7f6c-6808-4f1b-9f6c-676936bd1d5d&quot;,&quot;order&quot;:&quot;05&quot;}},&quot;e180f833-5155-4474-8edc-1c48074d95b1&quot;:{&quot;type&quot;:&quot;FIGURE_OBJECT&quot;,&quot;id&quot;:&quot;e180f833-5155-4474-8edc-1c48074d95b1&quot;,&quot;name&quot;:&quot;Spheroidal cell&quot;,&quot;relativeTransform&quot;:{&quot;translate&quot;:{&quot;x&quot;:-34.00291773235744,&quot;y&quot;:11.598742893210751},&quot;rotate&quot;:-2.679149151447384,&quot;skewX&quot;:0,&quot;scale&quot;:{&quot;x&quot;:0.3208198392629339,&quot;y&quot;:0.320819839262934}},&quot;opacity&quot;:0.57,&quot;image&quot;:{&quot;url&quot;:&quot;https://icons.cdn.biorender.com/biorender/5f35964d8d485800287e50b3/5f32bc680be41f0028c4b1b3.png&quot;,&quot;fallbackUrl&quot;:&quot;sources/icons/5f35964d8d485800287e50b3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2aae7f6c-6808-4f1b-9f6c-676936bd1d5d&quot;,&quot;order&quot;:&quot;1&quot;}},&quot;6358bee4-e9fe-4a00-9b47-4dbd1b92c5a5&quot;:{&quot;type&quot;:&quot;FIGURE_OBJECT&quot;,&quot;id&quot;:&quot;6358bee4-e9fe-4a00-9b47-4dbd1b92c5a5&quot;,&quot;name&quot;:&quot;Spheroidal cell&quot;,&quot;relativeTransform&quot;:{&quot;translate&quot;:{&quot;x&quot;:41.78078115659408,&quot;y&quot;:-6.351094371072248},&quot;rotate&quot;:-2.679149151447384,&quot;skewX&quot;:0,&quot;scale&quot;:{&quot;x&quot;:0.3208198392629339,&quot;y&quot;:0.320819839262934}},&quot;opacity&quot;:0.57,&quot;image&quot;:{&quot;url&quot;:&quot;https://icons.cdn.biorender.com/biorender/5f35964d8d485800287e50b3/5f32bc680be41f0028c4b1b3.png&quot;,&quot;fallbackUrl&quot;:&quot;sources/icons/5f35964d8d485800287e50b3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2aae7f6c-6808-4f1b-9f6c-676936bd1d5d&quot;,&quot;order&quot;:&quot;2&quot;}},&quot;e80cd308-743e-4236-8b37-eab0670094ee&quot;:{&quot;type&quot;:&quot;FIGURE_OBJECT&quot;,&quot;id&quot;:&quot;e80cd308-743e-4236-8b37-eab0670094ee&quot;,&quot;name&quot;:&quot;Spheroidal cell&quot;,&quot;relativeTransform&quot;:{&quot;translate&quot;:{&quot;x&quot;:-34.00243046617256,&quot;y&quot;:-11.176058755169185},&quot;rotate&quot;:0.16567988901875033,&quot;skewX&quot;:-3.370837507545081e-17,&quot;scale&quot;:{&quot;x&quot;:0.3208198392629342,&quot;y&quot;:0.32081983926293395}},&quot;opacity&quot;:0.99,&quot;image&quot;:{&quot;url&quot;:&quot;https://icons.cdn.biorender.com/biorender/5f35964d8d485800287e50b3/5f32bc680be41f0028c4b1b3.png&quot;,&quot;fallbackUrl&quot;:&quot;sources/icons/5f35964d8d485800287e50b3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2aae7f6c-6808-4f1b-9f6c-676936bd1d5d&quot;,&quot;order&quot;:&quot;25&quot;}},&quot;4959a193-c44c-4431-9ef2-7caf4a22b053&quot;:{&quot;type&quot;:&quot;FIGURE_OBJECT&quot;,&quot;id&quot;:&quot;4959a193-c44c-4431-9ef2-7caf4a22b053&quot;,&quot;name&quot;:&quot;Spheroidal cell&quot;,&quot;relativeTransform&quot;:{&quot;translate&quot;:{&quot;x&quot;:23.824825831902707,&quot;y&quot;:-21.557471568374083},&quot;rotate&quot;:0.16567988901875033,&quot;skewX&quot;:-3.370837507545081e-17,&quot;scale&quot;:{&quot;x&quot;:0.3208198392629342,&quot;y&quot;:0.32081983926293395}},&quot;opacity&quot;:0.99,&quot;image&quot;:{&quot;url&quot;:&quot;https://icons.cdn.biorender.com/biorender/5f35964d8d485800287e50b3/5f32bc680be41f0028c4b1b3.png&quot;,&quot;fallbackUrl&quot;:&quot;sources/icons/5f35964d8d485800287e50b3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2aae7f6c-6808-4f1b-9f6c-676936bd1d5d&quot;,&quot;order&quot;:&quot;3&quot;}},&quot;4d827aec-bd5c-42da-9eff-13da32f08645&quot;:{&quot;type&quot;:&quot;FIGURE_OBJECT&quot;,&quot;id&quot;:&quot;4d827aec-bd5c-42da-9eff-13da32f08645&quot;,&quot;name&quot;:&quot;Spheroidal cell&quot;,&quot;relativeTransform&quot;:{&quot;translate&quot;:{&quot;x&quot;:9.67988984562537,&quot;y&quot;:32.40673260644336},&quot;rotate&quot;:-2.679149151447384,&quot;skewX&quot;:0,&quot;scale&quot;:{&quot;x&quot;:0.3208198392629339,&quot;y&quot;:0.320819839262934}},&quot;opacity&quot;:0.57,&quot;image&quot;:{&quot;url&quot;:&quot;https://icons.cdn.biorender.com/biorender/5f35964d8d485800287e50b3/5f32bc680be41f0028c4b1b3.png&quot;,&quot;fallbackUrl&quot;:&quot;sources/icons/5f35964d8d485800287e50b3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2aae7f6c-6808-4f1b-9f6c-676936bd1d5d&quot;,&quot;order&quot;:&quot;5&quot;}},&quot;36638032-b461-4fed-b327-8b11cb5a0550&quot;:{&quot;type&quot;:&quot;FIGURE_OBJECT&quot;,&quot;id&quot;:&quot;36638032-b461-4fed-b327-8b11cb5a0550&quot;,&quot;name&quot;:&quot;Spheroidal cell&quot;,&quot;relativeTransform&quot;:{&quot;translate&quot;:{&quot;x&quot;:-18.45926257577398,&quot;y&quot;:21.99317438564714},&quot;rotate&quot;:0,&quot;skewX&quot;:0,&quot;scale&quot;:{&quot;x&quot;:0.3208198392629339,&quot;y&quot;:0.3208198392629339}},&quot;opacity&quot;:0.99,&quot;image&quot;:{&quot;url&quot;:&quot;https://icons.cdn.biorender.com/biorender/5f35964d8d485800287e50b3/5f32bc680be41f0028c4b1b3.png&quot;,&quot;fallbackUrl&quot;:&quot;sources/icons/5f35964d8d485800287e50b3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2aae7f6c-6808-4f1b-9f6c-676936bd1d5d&quot;,&quot;order&quot;:&quot;55&quot;}},&quot;de96b169-9eb2-4a32-9f6d-5612b52bc408&quot;:{&quot;type&quot;:&quot;FIGURE_OBJECT&quot;,&quot;id&quot;:&quot;de96b169-9eb2-4a32-9f6d-5612b52bc408&quot;,&quot;name&quot;:&quot;Spheroidal cell&quot;,&quot;relativeTransform&quot;:{&quot;translate&quot;:{&quot;x&quot;:-8.483862727181707,&quot;y&quot;:-21.556773715678247},&quot;rotate&quot;:-2.447656139780367,&quot;skewX&quot;:-2.0225025045270547e-16,&quot;scale&quot;:{&quot;x&quot;:0.3208198392629337,&quot;y&quot;:0.320819839262934}},&quot;opacity&quot;:1,&quot;image&quot;:{&quot;url&quot;:&quot;https://icons.cdn.biorender.com/biorender/5f35964d8d485800287e50b3/5f32bc680be41f0028c4b1b3.png&quot;,&quot;fallbackUrl&quot;:&quot;sources/icons/5f35964d8d485800287e50b3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2aae7f6c-6808-4f1b-9f6c-676936bd1d5d&quot;,&quot;order&quot;:&quot;6&quot;}},&quot;368fdcc6-4b3c-43ec-8f81-8f1ed50211c8&quot;:{&quot;type&quot;:&quot;FIGURE_OBJECT&quot;,&quot;id&quot;:&quot;368fdcc6-4b3c-43ec-8f81-8f1ed50211c8&quot;,&quot;name&quot;:&quot;Spheroidal cell&quot;,&quot;relativeTransform&quot;:{&quot;translate&quot;:{&quot;x&quot;:2.4507444806792162,&quot;y&quot;:2.7872957277043446},&quot;rotate&quot;:2.5130506582729475,&quot;skewX&quot;:1.3483350030180354e-16,&quot;scale&quot;:{&quot;x&quot;:0.3208198392629339,&quot;y&quot;:0.3208198392629338}},&quot;opacity&quot;:1,&quot;image&quot;:{&quot;url&quot;:&quot;https://icons.cdn.biorender.com/biorender/5f35964d8d485800287e50b3/5f32bc680be41f0028c4b1b3.png&quot;,&quot;fallbackUrl&quot;:&quot;sources/icons/5f35964d8d485800287e50b3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2aae7f6c-6808-4f1b-9f6c-676936bd1d5d&quot;,&quot;order&quot;:&quot;95&quot;}},&quot;7e4f51b1-afcd-48a4-b4da-115bb4f4dec3&quot;:{&quot;type&quot;:&quot;FIGURE_OBJECT&quot;,&quot;id&quot;:&quot;7e4f51b1-afcd-48a4-b4da-115bb4f4dec3&quot;,&quot;name&quot;:&quot;Spheroidal cell&quot;,&quot;relativeTransform&quot;:{&quot;translate&quot;:{&quot;x&quot;:29.021908633574625,&quot;y&quot;:13.04391428768901},&quot;rotate&quot;:2.5130506582729475,&quot;skewX&quot;:1.3483350030180354e-16,&quot;scale&quot;:{&quot;x&quot;:0.3208198392629339,&quot;y&quot;:0.3208198392629338}},&quot;opacity&quot;:1,&quot;image&quot;:{&quot;url&quot;:&quot;https://icons.cdn.biorender.com/biorender/5f35964d8d485800287e50b3/5f32bc680be41f0028c4b1b3.png&quot;,&quot;fallbackUrl&quot;:&quot;sources/icons/5f35964d8d485800287e50b3/5f32bc680be41f0028c4b1b3.svg&quot;,&quot;size&quot;:{&quot;x&quot;:157,&quot;y&quot;:154},&quot;isPremium&quot;:false},&quot;source&quot;:{&quot;id&quot;:&quot;5f32bc680be41f0028c4b1b3&quot;,&quot;type&quot;:&quot;ASSETS&quot;},&quot;pathStyles&quot;:[{&quot;type&quot;:&quot;FILL&quot;,&quot;fillStyle&quot;:&quot;rgb(0,0,0)&quot;}],&quot;isLocked&quot;:false,&quot;parent&quot;:{&quot;type&quot;:&quot;CHILD&quot;,&quot;parentId&quot;:&quot;2aae7f6c-6808-4f1b-9f6c-676936bd1d5d&quot;,&quot;order&quot;:&quot;7&quot;}},&quot;24438191-042f-4ab7-ae94-3f846e96ef80&quot;:{&quot;type&quot;:&quot;FIGURE_OBJECT&quot;,&quot;id&quot;:&quot;24438191-042f-4ab7-ae94-3f846e96ef80&quot;,&quot;relativeTransform&quot;:{&quot;translate&quot;:{&quot;x&quot;:-157.0812993143118,&quot;y&quot;:236.3993482202497},&quot;rotate&quot;:-0.14041793565262078,&quot;skewX&quot;:-5.551115123125789e-17,&quot;scale&quot;:{&quot;x&quot;:0.9999999999999994,&quot;y&quot;:1}},&quot;opacity&quot;:1,&quot;path&quot;:{&quot;type&quot;:&quot;POLY_LINE&quot;,&quot;points&quot;:[{&quot;x&quot;:11.892480290895966,&quot;y&quot;:33.350189272935005},{&quot;x&quot;:14.039137415173554,&quot;y&quot;:17.80190629094648},{&quot;x&quot;:17.075508469528657,&quot;y&quot;:3.752585052634716},{&quot;x&quot;:29.655667634582528,&quot;y&quot;:-6.705030855301658},{&quot;x&quot;:45.85307170153001,&quot;y&quot;:-13.606989385917274},{&quot;x&quot;:55.20907435721023,&quot;y&quot;:-16.559266235924866},{&quot;x&quot;:65.1097817730435,&quot;y&quot;:-21.577199607513535},{&quot;x&quot;:82.0952666932015,&quot;y&quot;:-23.92880809944257},{&quot;x&quot;:84.93771129018006,&quot;y&quot;:-43.72185804578312},{&quot;x&quot;:43.99573756226707,&quot;y&quot;:-49.41785540056523},{&quot;x&quot;:8.69396142732501,&quot;y&quot;:-23.315618591797577},{&quot;x&quot;:-3.4561177776848706,&quot;y&quot;:24.159840671144007},{&quot;x&quot;:5.969853632077788,&quot;y&quot;:77.74749975659923},{&quot;x&quot;:38.59689518331201,&quot;y&quot;:95.40391610244373},{&quot;x&quot;:43.23367430534877,&quot;y&quot;:80.30401557346873},{&quot;x&quot;:25.858449347562527,&quot;y&quot;:66.10784213480758},{&quot;x&quot;:16.754264409142298,&quot;y&quot;:52.12814890834727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,&quot;dashArray&quot;:[0]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985&quot;},&quot;connectorInfo&quot;:{&quot;connectedObjects&quot;:[],&quot;type&quot;:&quot;CUBIC&quot;,&quot;offset&quot;:{&quot;x&quot;:0,&quot;y&quot;:0},&quot;bending&quot;:0.1,&quot;firstElementIsHead&quot;:true,&quot;customized&quot;:true}},&quot;f9c8c00c-5a58-45f4-8451-69ec75ce2098&quot;:{&quot;type&quot;:&quot;FIGURE_OBJECT&quot;,&quot;id&quot;:&quot;f9c8c00c-5a58-45f4-8451-69ec75ce2098&quot;,&quot;relativeTransform&quot;:{&quot;translate&quot;:{&quot;x&quot;:17.81785442283274,&quot;y&quot;:249.75542956473214},&quot;rotate&quot;:0.09197636505904244,&quot;skewX&quot;:0,&quot;scale&quot;:{&quot;x&quot;:1,&quot;y&quot;:1}},&quot;opacity&quot;:1,&quot;path&quot;:{&quot;type&quot;:&quot;POLY_LINE&quot;,&quot;points&quot;:[{&quot;x&quot;:-59.46961363270344,&quot;y&quot;:53.01265180180175},{&quot;x&quot;:-39.96271526150799,&quot;y&quot;:32.22127505063883},{&quot;x&quot;:-39.56254719466185,&quot;y&quot;:17.37424674560443},{&quot;x&quot;:-41.8050943266757,&quot;y&quot;:5.407195585573652},{&quot;x&quot;:-47.882852923563874,&quot;y&quot;:-9.709738239388992},{&quot;x&quot;:-55.43673790951553,&quot;y&quot;:-16.54408813564465},{&quot;x&quot;:-67.06965352270232,&quot;y&quot;:-23.665188522984295},{&quot;x&quot;:-96.24757304641301,&quot;y&quot;:-35.800234620369395},{&quot;x&quot;:-88.47265526075758,&quot;y&quot;:-55.31206123673047},{&quot;x&quot;:-52.27614446514217,&quot;y&quot;:-49.42478425474883},{&quot;x&quot;:-21.53243468100363,&quot;y&quot;:-19.270646839806453},{&quot;x&quot;:-13.652940896833165,&quot;y&quot;:22.777211991876086},{&quot;x&quot;:-22.775019499640244,&quot;y&quot;:60.25573607272516},{&quot;x&quot;:-52.600059188817575,&quot;y&quot;:85.14233082732747},{&quot;x&quot;:-97.7923852643396,&quot;y&quot;:88.6232834269348},{&quot;x&quot;:-99.13011410651876,&quot;y&quot;:74.1200523836793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99&quot;},&quot;connectorInfo&quot;:{&quot;connectedObjects&quot;:[],&quot;type&quot;:&quot;CUBIC&quot;,&quot;offset&quot;:{&quot;x&quot;:0,&quot;y&quot;:0},&quot;bending&quot;:0.1,&quot;firstElementIsHead&quot;:true,&quot;customized&quot;:true}},&quot;b31a12be-09b9-4386-8e13-be7dd4f62954&quot;:{&quot;id&quot;:&quot;b31a12be-09b9-4386-8e13-be7dd4f62954&quot;,&quot;name&quot;:&quot;Stem Cell&quot;,&quot;displayName&quot;:&quot;&quot;,&quot;type&quot;:&quot;FIGURE_OBJECT&quot;,&quot;relativeTransform&quot;:{&quot;translate&quot;:{&quot;x&quot;:-357.75662723269784,&quot;y&quot;:81.33687005774493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1&quot;}},&quot;17b53464-c1f1-44d1-b6be-2b5dc2150186&quot;:{&quot;id&quot;:&quot;17b53464-c1f1-44d1-b6be-2b5dc2150186&quot;,&quot;name&quot;:&quot;Stem Cell&quot;,&quot;displayName&quot;:&quot;&quot;,&quot;type&quot;:&quot;FIGURE_OBJECT&quot;,&quot;relativeTransform&quot;:{&quot;translate&quot;:{&quot;x&quot;:-338.10946809464747,&quot;y&quot;:81.33681701172817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2&quot;}},&quot;2f4c4213-5dc9-4b8d-aece-46d16b4fed09&quot;:{&quot;id&quot;:&quot;2f4c4213-5dc9-4b8d-aece-46d16b4fed09&quot;,&quot;name&quot;:&quot;Stem Cell&quot;,&quot;displayName&quot;:&quot;&quot;,&quot;type&quot;:&quot;FIGURE_OBJECT&quot;,&quot;relativeTransform&quot;:{&quot;translate&quot;:{&quot;x&quot;:-357.75635657177327,&quot;y&quot;:103.14908080480103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5&quot;}},&quot;dd660667-40be-438b-b62e-fcf76fcf6ba2&quot;:{&quot;id&quot;:&quot;dd660667-40be-438b-b62e-fcf76fcf6ba2&quot;,&quot;name&quot;:&quot;Stem Cell&quot;,&quot;displayName&quot;:&quot;&quot;,&quot;type&quot;:&quot;FIGURE_OBJECT&quot;,&quot;relativeTransform&quot;:{&quot;translate&quot;:{&quot;x&quot;:-338.1091974337229,&quot;y&quot;:103.14902775878427},&quot;rotate&quot;:0.2778838807032443,&quot;skewX&quot;:0.0020163168230018795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7&quot;}},&quot;36db58bb-2031-441b-8ada-500cbcbd917d&quot;:{&quot;id&quot;:&quot;36db58bb-2031-441b-8ada-500cbcbd917d&quot;,&quot;name&quot;:&quot;Stem Cell&quot;,&quot;displayName&quot;:&quot;&quot;,&quot;type&quot;:&quot;FIGURE_OBJECT&quot;,&quot;relativeTransform&quot;:{&quot;translate&quot;:{&quot;x&quot;:-324.0154585855641,&quot;y&quot;:92.24363154473603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72&quot;}},&quot;a8f5dd4d-febd-4978-a4a5-9fcb00f67c90&quot;:{&quot;id&quot;:&quot;a8f5dd4d-febd-4978-a4a5-9fcb00f67c90&quot;,&quot;name&quot;:&quot;Stem Cell&quot;,&quot;displayName&quot;:&quot;&quot;,&quot;type&quot;:&quot;FIGURE_OBJECT&quot;,&quot;relativeTransform&quot;:{&quot;translate&quot;:{&quot;x&quot;:-304.3682994475137,&quot;y&quot;:92.24357849871927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75&quot;}},&quot;f2cfc916-1964-4ad2-add7-53059b593b73&quot;:{&quot;id&quot;:&quot;f2cfc916-1964-4ad2-add7-53059b593b73&quot;,&quot;name&quot;:&quot;Stem Cell&quot;,&quot;displayName&quot;:&quot;&quot;,&quot;type&quot;:&quot;FIGURE_OBJECT&quot;,&quot;relativeTransform&quot;:{&quot;translate&quot;:{&quot;x&quot;:-324.0151879246395,&quot;y&quot;:114.05584229179213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8&quot;}},&quot;11b20154-604f-4e13-8869-ea16a4d17464&quot;:{&quot;id&quot;:&quot;11b20154-604f-4e13-8869-ea16a4d17464&quot;,&quot;name&quot;:&quot;Stem Cell&quot;,&quot;displayName&quot;:&quot;&quot;,&quot;type&quot;:&quot;FIGURE_OBJECT&quot;,&quot;relativeTransform&quot;:{&quot;translate&quot;:{&quot;x&quot;:-304.3680287865891,&quot;y&quot;:114.05578924577537},&quot;rotate&quot;:0.2778838807032443,&quot;skewX&quot;:0.0020163168230018795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9&quot;}},&quot;c3bd482e-1862-4c43-ba8a-a6fcec942ec3&quot;:{&quot;type&quot;:&quot;FIGURE_OBJECT&quot;,&quot;id&quot;:&quot;c3bd482e-1862-4c43-ba8a-a6fcec942ec3&quot;,&quot;relativeTransform&quot;:{&quot;translate&quot;:{&quot;x&quot;:-390.8226607530339,&quot;y&quot;:80.74020891528482},&quot;rotate&quot;:-0.14041793565262076,&quot;skewX&quot;:-2.7755575615628944e-17,&quot;scale&quot;:{&quot;x&quot;:0.9999999999999994,&quot;y&quot;:0.9999999999999997}},&quot;opacity&quot;:1,&quot;path&quot;:{&quot;type&quot;:&quot;POLY_LINE&quot;,&quot;points&quot;:[{&quot;x&quot;:7.023945967836035,&quot;y&quot;:22.082951055833945},{&quot;x&quot;:8.29180626977311,&quot;y&quot;:11.787598028492894},{&quot;x&quot;:10.08515010574467,&quot;y&quot;:2.484788058382543},{&quot;x&quot;:16.523393183123865,&quot;y&quot;:-9.33060344078699},{&quot;x&quot;:21.211948598064172,&quot;y&quot;:-13.48434654249392},{&quot;x&quot;:26.93848124458306,&quot;y&quot;:-15.436208871429645},{&quot;x&quot;:59.75981033065072,&quot;y&quot;:-16.782998073008798},{&quot;x&quot;:61.30707489293128,&quot;y&quot;:-27.729476689451978},{&quot;x&quot;:25.98479677019306,&quot;y&quot;:-32.72221555217942},{&quot;x&quot;:5.134834266551548,&quot;y&quot;:-15.438523001637096},{&quot;x&quot;:-2.041254972482043,&quot;y&quot;:15.997527770872127},{&quot;x&quot;:3.5259195997746735,&quot;y&quot;:51.480794240402396},{&quot;x&quot;:31.025172715203198,&quot;y&quot;:65.85430569319614},{&quot;x&quot;:38.582610361499896,&quot;y&quot;:54.00517137196567},{&quot;x&quot;:15.272537484745367,&quot;y&quot;:43.77355193766423},{&quot;x&quot;:9.895416688707236,&quot;y&quot;:34.51684641287642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,&quot;dashArray&quot;:[0]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9995&quot;},&quot;connectorInfo&quot;:{&quot;connectedObjects&quot;:[],&quot;type&quot;:&quot;CUBIC&quot;,&quot;offset&quot;:{&quot;x&quot;:0,&quot;y&quot;:0},&quot;bending&quot;:0.1,&quot;firstElementIsHead&quot;:true,&quot;customized&quot;:true}},&quot;dd0f0a90-1ce0-4913-a41c-52112f29e30a&quot;:{&quot;type&quot;:&quot;FIGURE_OBJECT&quot;,&quot;id&quot;:&quot;dd0f0a90-1ce0-4913-a41c-52112f29e30a&quot;,&quot;relativeTransform&quot;:{&quot;translate&quot;:{&quot;x&quot;:-261.49687504636006,&quot;y&quot;:93.13999116510706},&quot;rotate&quot;:0.09197636505904243,&quot;skewX&quot;:0,&quot;scale&quot;:{&quot;x&quot;:1,&quot;y&quot;:1}},&quot;opacity&quot;:1,&quot;path&quot;:{&quot;type&quot;:&quot;POLY_LINE&quot;,&quot;points&quot;:[{&quot;x&quot;:-27.099420242596704,&quot;y&quot;:36.72250695842128},{&quot;x&quot;:-21.965909327142437,&quot;y&quot;:21.208347521256588},{&quot;x&quot;:-21.745952914910696,&quot;y&quot;:11.435893282365138},{&quot;x&quot;:-22.97859155423524,&quot;y&quot;:3.5590671974967942},{&quot;x&quot;:-26.31929283986826,&quot;y&quot;:-6.391041403475218},{&quot;x&quot;:-30.471361876801247,&quot;y&quot;:-10.889475045652894},{&quot;x&quot;:-36.86551122069442,&quot;y&quot;:-15.576650569002016},{&quot;x&quot;:-64.05903383785166,&quot;y&quot;:-23.54211445462773},{&quot;x&quot;:-65.15152246446982,&quot;y&quot;:-35.386529005906326},{&quot;x&quot;:-28.734109826614947,&quot;y&quot;:-32.53185974144314},{&quot;x&quot;:-11.835519801406386,&quot;y&quot;:-12.684121733100605},{&quot;x&quot;:-7.504476605911072,&quot;y&quot;:14.992176030583977},{&quot;x&quot;:-12.518519074074566,&quot;y&quot;:39.66089451057075},{&quot;x&quot;:-28.9121528200257,&quot;y&quot;:56.04148619562334},{&quot;x&quot;:-71.72593645859737,&quot;y&quot;:59.99048439094411},{&quot;x&quot;:-72.60497777537731,&quot;y&quot;:50.46019774999924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9997&quot;},&quot;connectorInfo&quot;:{&quot;connectedObjects&quot;:[],&quot;type&quot;:&quot;CUBIC&quot;,&quot;offset&quot;:{&quot;x&quot;:0,&quot;y&quot;:0},&quot;bending&quot;:0.1,&quot;firstElementIsHead&quot;:true,&quot;customized&quot;:true}},&quot;c08b5676-7454-4a39-9951-32c126fa0105&quot;:{&quot;id&quot;:&quot;c08b5676-7454-4a39-9951-32c126fa0105&quot;,&quot;name&quot;:&quot;Stem Cell&quot;,&quot;displayName&quot;:&quot;&quot;,&quot;type&quot;:&quot;FIGURE_OBJECT&quot;,&quot;relativeTransform&quot;:{&quot;translate&quot;:{&quot;x&quot;:-140.13801524046244,&quot;y&quot;:-108.20148824400543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972&quot;}},&quot;770b368c-ec71-4e09-b04c-e2b636b1d8b1&quot;:{&quot;id&quot;:&quot;770b368c-ec71-4e09-b04c-e2b636b1d8b1&quot;,&quot;name&quot;:&quot;Stem Cell&quot;,&quot;displayName&quot;:&quot;&quot;,&quot;type&quot;:&quot;FIGURE_OBJECT&quot;,&quot;relativeTransform&quot;:{&quot;translate&quot;:{&quot;x&quot;:-120.49085610241207,&quot;y&quot;:-108.2015412900222},&quot;rotate&quot;:0.2778838807032443,&quot;skewX&quot;:0.0020163168230019498,&quot;scale&quot;:{&quot;x&quot;:0.44530727980110874,&quot;y&quot;:0.4454316384240948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975&quot;}},&quot;ae73f697-9bb8-4130-bca6-5b5cf7f08245&quot;:{&quot;type&quot;:&quot;FIGURE_OBJECT&quot;,&quot;id&quot;:&quot;ae73f697-9bb8-4130-bca6-5b5cf7f08245&quot;,&quot;relativeTransform&quot;:{&quot;translate&quot;:{&quot;x&quot;:-173.24657005663383,&quot;y&quot;:-115.29620777860221},&quot;rotate&quot;:-0.14041793565262076,&quot;skewX&quot;:0,&quot;scale&quot;:{&quot;x&quot;:0.9999999999999994,&quot;y&quot;:0.9999999999999994}},&quot;opacity&quot;:1,&quot;path&quot;:{&quot;type&quot;:&quot;POLY_LINE&quot;,&quot;points&quot;:[{&quot;x&quot;:8.999389625999456,&quot;y&quot;:15.786294110089074},{&quot;x&quot;:10.623828210908485,&quot;y&quot;:8.426522744120973},{&quot;x&quot;:12.921539495590352,&quot;y&quot;:1.7762841112896126},{&quot;x&quot;:21.170500724157378,&quot;y&quot;:-6.670107168577886},{&quot;x&quot;:27.177684884649537,&quot;y&quot;:-9.639466204673568},{&quot;x&quot;:34.194431932342226,&quot;y&quot;:-9.639466204673568},{&quot;x&quot;:42.26240925705507,&quot;y&quot;:-9.639466204673568},{&quot;x&quot;:44.642308267722434,&quot;y&quot;:-18.751625243542662},{&quot;x&quot;:33.29286864651442,&quot;y&quot;:-23.391915207997897},{&quot;x&quot;:6.578976324880131,&quot;y&quot;:-11.036435488762834},{&quot;x&quot;:-2.6153459761072497,&quot;y&quot;:11.436047554821158},{&quot;x&quot;:4.5175638328687455,&quot;y&quot;:36.80173708872451},{&quot;x&quot;:29.20740582386263,&quot;y&quot;:45.15939224577892},{&quot;x&quot;:32.71619296567128,&quot;y&quot;:38.01186247217919},{&quot;x&quot;:19.56784918794719,&quot;y&quot;:31.292111429494412},{&quot;x&quot;:12.678444666442886,&quot;y&quot;:24.67483117852987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,&quot;dashArray&quot;:[0]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9998&quot;},&quot;connectorInfo&quot;:{&quot;connectedObjects&quot;:[],&quot;type&quot;:&quot;CUBIC&quot;,&quot;offset&quot;:{&quot;x&quot;:0,&quot;y&quot;:0},&quot;bending&quot;:0.1,&quot;firstElementIsHead&quot;:true,&quot;customized&quot;:true}},&quot;33db4b72-50bf-49ff-b8bf-350d59e46c87&quot;:{&quot;type&quot;:&quot;FIGURE_OBJECT&quot;,&quot;id&quot;:&quot;33db4b72-50bf-49ff-b8bf-350d59e46c87&quot;,&quot;relativeTransform&quot;:{&quot;translate&quot;:{&quot;x&quot;:-72.3728206979792,&quot;y&quot;:-114.26799105987483},&quot;rotate&quot;:0.09197636505904243,&quot;skewX&quot;:0,&quot;scale&quot;:{&quot;x&quot;:0.9999999999999999,&quot;y&quot;:0.9999999999999999}},&quot;opacity&quot;:1,&quot;path&quot;:{&quot;type&quot;:&quot;POLY_LINE&quot;,&quot;points&quot;:[{&quot;x&quot;:-29.529566666848506,&quot;y&quot;:26.39141931860429},{&quot;x&quot;:-23.93570703974765,&quot;y&quot;:15.241835017470363},{&quot;x&quot;:-23.69602598824721,&quot;y&quot;:8.218650628603033},{&quot;x&quot;:-25.03920176655603,&quot;y&quot;:2.5578001768391734},{&quot;x&quot;:-28.679481169030584,&quot;y&quot;:-4.59305933967551},{&quot;x&quot;:-33.203887902970415,&quot;y&quot;:-7.825955412431301},{&quot;x&quot;:-40.17143398469378,&quot;y&quot;:-11.194494896858787},{&quot;x&quot;:-57.64757716412292,&quot;y&quot;:-16.93481306412741},{&quot;x&quot;:-52.99078262056443,&quot;y&quot;:-26.164616717417857},{&quot;x&quot;:-31.310847396057348,&quot;y&quot;:-23.37972057905923},{&quot;x&quot;:-12.8968726225025,&quot;y&quot;:-9.115716847041508},{&quot;x&quot;:-8.17744218327313,&quot;y&quot;:10.774449701090887},{&quot;x&quot;:-13.64112000400041,&quot;y&quot;:28.50315472101424},{&quot;x&quot;:-31.504856433757126,&quot;y&quot;:40.27541918913842},{&quot;x&quot;:-53.10898219232928,&quot;y&quot;:42.268110476418684},{&quot;x&quot;:-53.76264566739766,&quot;y&quot;:35.1812987814484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9999&quot;},&quot;connectorInfo&quot;:{&quot;connectedObjects&quot;:[],&quot;type&quot;:&quot;CUBIC&quot;,&quot;offset&quot;:{&quot;x&quot;:0,&quot;y&quot;:0},&quot;bending&quot;:0.1,&quot;firstElementIsHead&quot;:true,&quot;customized&quot;:true}},&quot;dd222e46-64aa-4540-9aaf-6386f210452d&quot;:{&quot;id&quot;:&quot;dd222e46-64aa-4540-9aaf-6386f210452d&quot;,&quot;name&quot;:&quot;Stem Cell&quot;,&quot;displayName&quot;:&quot;&quot;,&quot;type&quot;:&quot;FIGURE_OBJECT&quot;,&quot;relativeTransform&quot;:{&quot;translate&quot;:{&quot;x&quot;:-307.3491101199333,&quot;y&quot;:-160.05290680889146},&quot;rotate&quot;:0.4975109628906238,&quot;skewX&quot;:0.002016316823001321,&quot;scale&quot;:{&quot;x&quot;:0.4453072798011086,&quot;y&quot;:0.44543163842409483}},&quot;image&quot;:{&quot;url&quot;:&quot;https://icons.cdn.biorender.com/biorender/61798dcb4b488100281faed6/61798cdb4b488100281faea7.png&quot;,&quot;isPremium&quot;:false,&quot;isOrgIcon&quot;:false,&quot;size&quot;:{&quot;x&quot;:100,&quot;y&quot;:100},&quot;fallbackUrl&quot;:&quot;sources/icons/61798dcb4b488100281faed6/61798cdb4b488100281faea7.svg&quot;},&quot;source&quot;:{&quot;id&quot;:&quot;61798cdb4b488100281faea7&quot;,&quot;version&quot;:&quot;20211027173351&quot;,&quot;type&quot;:&quot;ASSETS&quot;},&quot;isPremium&quot;:false,&quot;parent&quot;:{&quot;type&quot;:&quot;CHILD&quot;,&quot;parentId&quot;:&quot;147f0b94-aeea-4507-b9c8-c684c89d8226&quot;,&quot;order&quot;:&quot;99999999996&quot;}},&quot;e86114fd-ed13-4935-9252-b556c4bae93e&quot;:{&quot;type&quot;:&quot;FIGURE_OBJECT&quot;,&quot;id&quot;:&quot;e86114fd-ed13-4935-9252-b556c4bae93e&quot;,&quot;relativeTransform&quot;:{&quot;translate&quot;:{&quot;x&quot;:-341.62657214484693,&quot;y&quot;:-175.21751899568756},&quot;rotate&quot;:0.07920914653475875,&quot;skewX&quot;:0,&quot;scale&quot;:{&quot;x&quot;:0.9999999999999993,&quot;y&quot;:0.9999999999999993}},&quot;opacity&quot;:1,&quot;path&quot;:{&quot;type&quot;:&quot;POLY_LINE&quot;,&quot;points&quot;:[{&quot;x&quot;:8.999389625999456,&quot;y&quot;:15.786294110089074},{&quot;x&quot;:10.623828210908485,&quot;y&quot;:8.426522744120973},{&quot;x&quot;:12.921539495590352,&quot;y&quot;:1.7762841112896126},{&quot;x&quot;:21.170500724157378,&quot;y&quot;:-6.670107168577886},{&quot;x&quot;:27.177684884649537,&quot;y&quot;:-9.639466204673568},{&quot;x&quot;:34.194431932342226,&quot;y&quot;:-9.639466204673568},{&quot;x&quot;:42.26240925705507,&quot;y&quot;:-9.639466204673568},{&quot;x&quot;:44.642308267722434,&quot;y&quot;:-18.751625243542662},{&quot;x&quot;:33.29286864651442,&quot;y&quot;:-23.391915207997897},{&quot;x&quot;:6.578976324880131,&quot;y&quot;:-11.036435488762834},{&quot;x&quot;:-2.6153459761072497,&quot;y&quot;:11.436047554821158},{&quot;x&quot;:4.5175638328687455,&quot;y&quot;:36.80173708872451},{&quot;x&quot;:29.20740582386263,&quot;y&quot;:45.15939224577892},{&quot;x&quot;:32.71619296567128,&quot;y&quot;:38.01186247217919},{&quot;x&quot;:19.56784918794719,&quot;y&quot;:31.292111429494412},{&quot;x&quot;:12.678444666442886,&quot;y&quot;:24.67483117852987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,&quot;dashArray&quot;:[0]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99997&quot;},&quot;connectorInfo&quot;:{&quot;connectedObjects&quot;:[],&quot;type&quot;:&quot;CUBIC&quot;,&quot;offset&quot;:{&quot;x&quot;:0,&quot;y&quot;:0},&quot;bending&quot;:0.1,&quot;firstElementIsHead&quot;:true,&quot;customized&quot;:true}},&quot;ba214c99-02c1-4bf9-92fb-6ff74de5d255&quot;:{&quot;type&quot;:&quot;FIGURE_OBJECT&quot;,&quot;id&quot;:&quot;ba214c99-02c1-4bf9-92fb-6ff74de5d255&quot;,&quot;relativeTransform&quot;:{&quot;translate&quot;:{&quot;x&quot;:-258.5140628034487,&quot;y&quot;:-155.7380173253589},&quot;rotate&quot;:0.311603447246422,&quot;skewX&quot;:0,&quot;scale&quot;:{&quot;x&quot;:0.9999999999999998,&quot;y&quot;:0.9999999999999998}},&quot;opacity&quot;:1,&quot;path&quot;:{&quot;type&quot;:&quot;POLY_LINE&quot;,&quot;points&quot;:[{&quot;x&quot;:-29.529566666848506,&quot;y&quot;:26.39141931860429},{&quot;x&quot;:-23.93570703974765,&quot;y&quot;:15.241835017470363},{&quot;x&quot;:-23.69602598824721,&quot;y&quot;:8.218650628603033},{&quot;x&quot;:-25.03920176655603,&quot;y&quot;:2.5578001768391734},{&quot;x&quot;:-28.679481169030584,&quot;y&quot;:-4.59305933967551},{&quot;x&quot;:-33.203887902970415,&quot;y&quot;:-7.825955412431301},{&quot;x&quot;:-40.17143398469378,&quot;y&quot;:-11.194494896858787},{&quot;x&quot;:-41.962229241306105,&quot;y&quot;:-18.741849681780888},{&quot;x&quot;:-31.310847396057348,&quot;y&quot;:-23.37972057905923},{&quot;x&quot;:-12.8968726225025,&quot;y&quot;:-9.115716847041508},{&quot;x&quot;:-8.17744218327313,&quot;y&quot;:10.774449701090887},{&quot;x&quot;:-13.64112000400041,&quot;y&quot;:28.50315472101424},{&quot;x&quot;:-31.504856433757126,&quot;y&quot;:40.27541918913842},{&quot;x&quot;:-39.050110914932866,&quot;y&quot;:38.451203060347396},{&quot;x&quot;:-40.20810621182668,&quot;y&quot;:33.57080072922766}],&quot;closed&quot;:true},&quot;pathStyles&quot;:[{&quot;type&quot;:&quot;FILL&quot;,&quot;fillStyle&quot;:&quot;rgba(63, 120, 193, 1)&quot;},{&quot;type&quot;:&quot;STROKE&quot;,&quot;strokeStyle&quot;:&quot;rgba(19,54,122,1)&quot;,&quot;lineWidth&quot;:1,&quot;lineJoin&quot;:&quot;round&quot;}],&quot;pathSmoothing&quot;:{&quot;type&quot;:&quot;CATMULL_SMOOTHING&quot;,&quot;smoothing&quot;:0.2},&quot;isLocked&quot;:false,&quot;parent&quot;:{&quot;type&quot;:&quot;CHILD&quot;,&quot;parentId&quot;:&quot;147f0b94-aeea-4507-b9c8-c684c89d8226&quot;,&quot;order&quot;:&quot;99999999998&quot;},&quot;connectorInfo&quot;:{&quot;connectedObjects&quot;:[],&quot;type&quot;:&quot;CUBIC&quot;,&quot;offset&quot;:{&quot;x&quot;:0,&quot;y&quot;:0},&quot;bending&quot;:0.1,&quot;firstElementIsHead&quot;:true,&quot;customized&quot;:true}},&quot;c15e4bac-06e4-4104-bf1d-8a89b7f36b13&quot;:{&quot;type&quot;:&quot;FIGURE_OBJECT&quot;,&quot;id&quot;:&quot;c15e4bac-06e4-4104-bf1d-8a89b7f36b13&quot;,&quot;relativeTransform&quot;:{&quot;translate&quot;:{&quot;x&quot;:-526.0771477898418,&quot;y&quot;:33.45679053415722},&quot;rotate&quot;:0,&quot;skewX&quot;:0,&quot;scale&quot;:{&quot;x&quot;:1,&quot;y&quot;:1}},&quot;opacity&quot;:1,&quot;path&quot;:{&quot;type&quot;:&quot;POLY_LINE&quot;,&quot;points&quot;:[{&quot;x&quot;:114.72534005926002,&quot;y&quot;:-158.45039206373406},{&quot;x&quot;:200.6191950464397,&quot;y&quot;:-192.87599804464725}],&quot;closed&quot;:false},&quot;pathStyles&quot;:[{&quot;type&quot;:&quot;FILL&quot;,&quot;fillStyle&quot;:&quot;rgba(0,0,0,0)&quot;},{&quot;type&quot;:&quot;STROKE&quot;,&quot;strokeStyle&quot;:&quot;rgba(254,240,222,1)&quot;,&quot;lineWidth&quot;:3,&quot;lineJoin&quot;:&quot;round&quot;}],&quot;isLocked&quot;:false,&quot;parent&quot;:{&quot;type&quot;:&quot;CHILD&quot;,&quot;parentId&quot;:&quot;147f0b94-aeea-4507-b9c8-c684c89d8226&quot;,&quot;order&quot;:&quot;999999999985&quot;},&quot;connectorInfo&quot;:{&quot;connectedObjects&quot;:[],&quot;type&quot;:&quot;LINE&quot;,&quot;offset&quot;:{&quot;x&quot;:0,&quot;y&quot;:0},&quot;bending&quot;:0.1,&quot;firstElementIsHead&quot;:true,&quot;customized&quot;:false}},&quot;c1adb911-c041-4541-8211-03ae7e23ae57&quot;:{&quot;id&quot;:&quot;c1adb911-c041-4541-8211-03ae7e23ae57&quot;,&quot;type&quot;:&quot;FIGURE_OBJECT&quot;,&quot;relativeTransform&quot;:{&quot;translate&quot;:{&quot;x&quot;:-462.4910616729002,&quot;y&quot;:-120.4812391424708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Times New Roman&quot;,&quot;fontSize&quot;:18.666666666666664,&quot;color&quot;:&quot;rgba(254,240,222,1)&quot;,&quot;fontWeight&quot;:&quot;bold&quot;,&quot;fontStyle&quot;:&quot;normal&quot;,&quot;decoration&quot;:&quot;none&quot;,&quot;script&quot;:&quot;none&quot;},&quot;range&quot;:[0,10]}],&quot;text&quot;:&quot;Gonialblast&quot;}],&quot;_lastCaretLocation&quot;:{&quot;lineIndex&quot;:0,&quot;runIndex&quot;:-1,&quot;charIndex&quot;:-1,&quot;endOfLine&quot;:true}},&quot;format&quot;:&quot;BETTER_TEXT&quot;,&quot;size&quot;:{&quot;x&quot;:99.27780067803361,&quot;y&quot;:21.999999999999996},&quot;targetSize&quot;:{&quot;x&quot;:99.27780067803361,&quot;y&quot;:21.999999999999996}},&quot;parent&quot;:{&quot;type&quot;:&quot;CHILD&quot;,&quot;parentId&quot;:&quot;147f0b94-aeea-4507-b9c8-c684c89d8226&quot;,&quot;order&quot;:&quot;99999999999&quot;}},&quot;b37eda21-8f8e-4eba-bd83-89b9a4660d57&quot;:{&quot;type&quot;:&quot;FIGURE_OBJECT&quot;,&quot;id&quot;:&quot;b37eda21-8f8e-4eba-bd83-89b9a4660d57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-457.62706442652535,&quot;y&quot;:-12.986561826088248},{&quot;x&quot;:-358.30095689581225,&quot;y&quot;:-78.48229098730717}],&quot;closed&quot;:false},&quot;pathStyles&quot;:[{&quot;type&quot;:&quot;FILL&quot;,&quot;fillStyle&quot;:&quot;rgba(0,0,0,0)&quot;},{&quot;type&quot;:&quot;STROKE&quot;,&quot;strokeStyle&quot;:&quot;rgba(49,126,194,1)&quot;,&quot;lineWidth&quot;:4,&quot;lineJoin&quot;:&quot;round&quot;}],&quot;isLocked&quot;:false,&quot;parent&quot;:{&quot;type&quot;:&quot;CHILD&quot;,&quot;parentId&quot;:&quot;147f0b94-aeea-4507-b9c8-c684c89d8226&quot;,&quot;order&quot;:&quot;999999999995&quot;},&quot;connectorInfo&quot;:{&quot;connectedObjects&quot;:[{&quot;objectId&quot;:&quot;92768861-6058-4fde-8f61-44a81474c806&quot;,&quot;coordinates&quot;:{&quot;x&quot;:0,&quot;y&quot;:0.5}}],&quot;type&quot;:&quot;LINE&quot;,&quot;offset&quot;:{&quot;x&quot;:0,&quot;y&quot;:0},&quot;bending&quot;:0.1,&quot;firstElementIsHead&quot;:false,&quot;customized&quot;:false}},&quot;1afbcdef-d85f-468f-af76-bf5898a2eaf9&quot;:{&quot;id&quot;:&quot;1afbcdef-d85f-468f-af76-bf5898a2eaf9&quot;,&quot;type&quot;:&quot;FIGURE_OBJECT&quot;,&quot;relativeTransform&quot;:{&quot;translate&quot;:{&quot;x&quot;:-508.6691033824852,&quot;y&quot;:5.38138668852262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Times New Roman&quot;,&quot;fontSize&quot;:18.666666666666664,&quot;color&quot;:&quot;rgba(49,126,194,1)&quot;,&quot;fontWeight&quot;:&quot;bold&quot;,&quot;fontStyle&quot;:&quot;normal&quot;,&quot;decoration&quot;:&quot;none&quot;},&quot;range&quot;:[0,9]}],&quot;text&quot;:&quot;Cyst Cells&quot;},{&quot;runs&quot;:[{&quot;style&quot;:{&quot;fontFamily&quot;:&quot;Times New Roman&quot;,&quot;fontSize&quot;:18.666666666666664,&quot;color&quot;:&quot;rgba(49,126,194,1)&quot;,&quot;fontWeight&quot;:&quot;bold&quot;,&quot;fontStyle&quot;:&quot;normal&quot;,&quot;decoration&quot;:&quot;none&quot;,&quot;script&quot;:&quot;none&quot;},&quot;range&quot;:[0,4]}],&quot;text&quot;:&quot;(CCs)&quot;}],&quot;_lastCaretLocation&quot;:{&quot;lineIndex&quot;:1,&quot;runIndex&quot;:0,&quot;charIndex&quot;:4}},&quot;format&quot;:&quot;BETTER_TEXT&quot;,&quot;size&quot;:{&quot;x&quot;:85.70063178869214,&quot;y&quot;:43.093333333333334},&quot;targetSize&quot;:{&quot;x&quot;:85.70063178869214,&quot;y&quot;:43.093333333333334}},&quot;parent&quot;:{&quot;type&quot;:&quot;CHILD&quot;,&quot;parentId&quot;:&quot;147f0b94-aeea-4507-b9c8-c684c89d8226&quot;,&quot;order&quot;:&quot;999999999997&quot;}},&quot;58814efc-3a66-4df4-afd6-fd18810578be&quot;:{&quot;id&quot;:&quot;58814efc-3a66-4df4-afd6-fd18810578be&quot;,&quot;type&quot;:&quot;FIGURE_OBJECT&quot;,&quot;relativeTransform&quot;:{&quot;translate&quot;:{&quot;x&quot;:-186.12013316809433,&quot;y&quot;:-44.5906483411842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Times New Roman&quot;,&quot;fontSize&quot;:18.666666666666664,&quot;color&quot;:&quot;rgba(254,240,222,1)&quot;,&quot;fontWeight&quot;:&quot;bold&quot;,&quot;fontStyle&quot;:&quot;normal&quot;,&quot;decoration&quot;:&quot;none&quot;,&quot;script&quot;:&quot;none&quot;},&quot;range&quot;:[0,15]}],&quot;text&quot;:&quot;Early Germ Cells&quot;}],&quot;_lastCaretLocation&quot;:{&quot;lineIndex&quot;:0,&quot;runIndex&quot;:0,&quot;charIndex&quot;:12}},&quot;format&quot;:&quot;BETTER_TEXT&quot;,&quot;size&quot;:{&quot;x&quot;:149.34290053904306,&quot;y&quot;:26.258554977890707},&quot;targetSize&quot;:{&quot;x&quot;:149.34290053904306,&quot;y&quot;:26.258554977890707}},&quot;parent&quot;:{&quot;type&quot;:&quot;CHILD&quot;,&quot;parentId&quot;:&quot;147f0b94-aeea-4507-b9c8-c684c89d8226&quot;,&quot;order&quot;:&quot;999999999998&quot;}},&quot;49e74b17-da59-452d-9eb9-3cf782b01870&quot;:{&quot;id&quot;:&quot;49e74b17-da59-452d-9eb9-3cf782b01870&quot;,&quot;type&quot;:&quot;FIGURE_OBJECT&quot;,&quot;relativeTransform&quot;:{&quot;translate&quot;:{&quot;x&quot;:-164.85160183686025,&quot;y&quot;:130.5930141068938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Times New Roman&quot;,&quot;fontSize&quot;:18.666666666666664,&quot;color&quot;:&quot;rgba(254,240,222,1)&quot;,&quot;fontWeight&quot;:&quot;bold&quot;,&quot;fontStyle&quot;:&quot;normal&quot;,&quot;decoration&quot;:&quot;none&quot;,&quot;script&quot;:&quot;none&quot;},&quot;range&quot;:[0,14]}],&quot;text&quot;:&quot;Late Germ Cells&quot;}],&quot;_lastCaretLocation&quot;:{&quot;lineIndex&quot;:0,&quot;runIndex&quot;:0,&quot;charIndex&quot;:11}},&quot;format&quot;:&quot;BETTER_TEXT&quot;,&quot;size&quot;:{&quot;x&quot;:134.27512943492926,&quot;y&quot;:22},&quot;targetSize&quot;:{&quot;x&quot;:134.27512943492926,&quot;y&quot;:22}},&quot;parent&quot;:{&quot;type&quot;:&quot;CHILD&quot;,&quot;parentId&quot;:&quot;147f0b94-aeea-4507-b9c8-c684c89d8226&quot;,&quot;order&quot;:&quot;999999999999&quot;}},&quot;e956f850-7fd6-4b45-a7f5-e093e2edb7c6&quot;:{&quot;type&quot;:&quot;FIGURE_OBJECT&quot;,&quot;id&quot;:&quot;e956f850-7fd6-4b45-a7f5-e093e2edb7c6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-481.90813730518687,&quot;y&quot;:180.90801827519925},{&quot;x&quot;:-367.08755538565606,&quot;y&quot;:110.37424332438103}],&quot;closed&quot;:false},&quot;pathStyles&quot;:[{&quot;type&quot;:&quot;FILL&quot;,&quot;fillStyle&quot;:&quot;rgba(0,0,0,0)&quot;},{&quot;type&quot;:&quot;STROKE&quot;,&quot;strokeStyle&quot;:&quot;rgba(254,240,222,1)&quot;,&quot;lineWidth&quot;:3,&quot;lineJoin&quot;:&quot;round&quot;}],&quot;isLocked&quot;:false,&quot;parent&quot;:{&quot;type&quot;:&quot;CHILD&quot;,&quot;parentId&quot;:&quot;147f0b94-aeea-4507-b9c8-c684c89d8226&quot;,&quot;order&quot;:&quot;9999999999992&quot;},&quot;connectorInfo&quot;:{&quot;connectedObjects&quot;:[{&quot;objectId&quot;:&quot;97ef1f64-d16a-4154-b37e-488b6aba4a40&quot;,&quot;coordinates&quot;:{&quot;x&quot;:1,&quot;y&quot;:0.5}}],&quot;type&quot;:&quot;LINE&quot;,&quot;offset&quot;:{&quot;x&quot;:0,&quot;y&quot;:0},&quot;bending&quot;:0.1,&quot;firstElementIsHead&quot;:true,&quot;customized&quot;:false}},&quot;97ef1f64-d16a-4154-b37e-488b6aba4a40&quot;:{&quot;id&quot;:&quot;97ef1f64-d16a-4154-b37e-488b6aba4a40&quot;,&quot;type&quot;:&quot;FIGURE_OBJECT&quot;,&quot;relativeTransform&quot;:{&quot;translate&quot;:{&quot;x&quot;:-546.0153837041127,&quot;y&quot;:180.9080182751992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Times New Roman&quot;,&quot;fontSize&quot;:18.666666666666664,&quot;color&quot;:&quot;rgba(254,240,222,1)&quot;,&quot;fontWeight&quot;:&quot;bold&quot;,&quot;fontStyle&quot;:&quot;normal&quot;,&quot;decoration&quot;:&quot;none&quot;,&quot;script&quot;:&quot;none&quot;},&quot;range&quot;:[0,12]}],&quot;text&quot;:&quot;Spermatogonia&quot;}],&quot;_lastCaretLocation&quot;:{&quot;lineIndex&quot;:0,&quot;runIndex&quot;:-1,&quot;charIndex&quot;:-1,&quot;endOfLine&quot;:true}},&quot;format&quot;:&quot;BETTER_TEXT&quot;,&quot;size&quot;:{&quot;x&quot;:128.21449279785156,&quot;y&quot;:21.999999999999996},&quot;targetSize&quot;:{&quot;x&quot;:99.27780067803361,&quot;y&quot;:21.999999999999996}},&quot;parent&quot;:{&quot;type&quot;:&quot;CHILD&quot;,&quot;parentId&quot;:&quot;147f0b94-aeea-4507-b9c8-c684c89d8226&quot;,&quot;order&quot;:&quot;9999999999995&quot;}},&quot;7c15d8e5-89a7-4825-9b99-0accfa93de26&quot;:{&quot;id&quot;:&quot;7c15d8e5-89a7-4825-9b99-0accfa93de26&quot;,&quot;type&quot;:&quot;FIGURE_OBJECT&quot;,&quot;document&quot;:{&quot;type&quot;:&quot;DOCUMENT_GROUP&quot;,&quot;canvasType&quot;:&quot;SLIDE&quot;,&quot;units&quot;:&quot;in&quot;},&quot;source&quot;:{&quot;id&quot;:&quot;64df6100245d62a20b512463&quot;,&quot;type&quot;:&quot;TEMPLATES&quot;}}}}"/>
  <p:tag name="TRANSPARENTBACKGROUND" val="true"/>
  <p:tag name="VERSION" val="1739652465601"/>
  <p:tag name="TITLE" val="Y3 dissertation Figures"/>
  <p:tag name="CREATORNAME" val="Zheheng Fan"/>
</p:tagLst>
</file>

<file path=ppt/theme/theme1.xml><?xml version="1.0" encoding="utf-8"?>
<a:theme xmlns:a="http://schemas.openxmlformats.org/drawingml/2006/main" name="Custom Design">
  <a:themeElements>
    <a:clrScheme name="Custom Design 15">
      <a:dk1>
        <a:srgbClr val="000000"/>
      </a:dk1>
      <a:lt1>
        <a:srgbClr val="FFFFFF"/>
      </a:lt1>
      <a:dk2>
        <a:srgbClr val="5A1B31"/>
      </a:dk2>
      <a:lt2>
        <a:srgbClr val="808080"/>
      </a:lt2>
      <a:accent1>
        <a:srgbClr val="7FA1AC"/>
      </a:accent1>
      <a:accent2>
        <a:srgbClr val="C88BA9"/>
      </a:accent2>
      <a:accent3>
        <a:srgbClr val="FFFFFF"/>
      </a:accent3>
      <a:accent4>
        <a:srgbClr val="000000"/>
      </a:accent4>
      <a:accent5>
        <a:srgbClr val="C0CDD2"/>
      </a:accent5>
      <a:accent6>
        <a:srgbClr val="B57D99"/>
      </a:accent6>
      <a:hlink>
        <a:srgbClr val="4B4620"/>
      </a:hlink>
      <a:folHlink>
        <a:srgbClr val="B25D86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FA1AC"/>
        </a:accent1>
        <a:accent2>
          <a:srgbClr val="00435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003C50"/>
        </a:accent6>
        <a:hlink>
          <a:srgbClr val="4B4620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4">
        <a:dk1>
          <a:srgbClr val="000000"/>
        </a:dk1>
        <a:lt1>
          <a:srgbClr val="FFFFFF"/>
        </a:lt1>
        <a:dk2>
          <a:srgbClr val="004359"/>
        </a:dk2>
        <a:lt2>
          <a:srgbClr val="808080"/>
        </a:lt2>
        <a:accent1>
          <a:srgbClr val="7FA1AC"/>
        </a:accent1>
        <a:accent2>
          <a:srgbClr val="00435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003C50"/>
        </a:accent6>
        <a:hlink>
          <a:srgbClr val="4B4620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5">
        <a:dk1>
          <a:srgbClr val="000000"/>
        </a:dk1>
        <a:lt1>
          <a:srgbClr val="FFFFFF"/>
        </a:lt1>
        <a:dk2>
          <a:srgbClr val="5A1B31"/>
        </a:dk2>
        <a:lt2>
          <a:srgbClr val="808080"/>
        </a:lt2>
        <a:accent1>
          <a:srgbClr val="7FA1AC"/>
        </a:accent1>
        <a:accent2>
          <a:srgbClr val="C88BA9"/>
        </a:accent2>
        <a:accent3>
          <a:srgbClr val="FFFFFF"/>
        </a:accent3>
        <a:accent4>
          <a:srgbClr val="000000"/>
        </a:accent4>
        <a:accent5>
          <a:srgbClr val="C0CDD2"/>
        </a:accent5>
        <a:accent6>
          <a:srgbClr val="B57D99"/>
        </a:accent6>
        <a:hlink>
          <a:srgbClr val="4B4620"/>
        </a:hlink>
        <a:folHlink>
          <a:srgbClr val="B25D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E51B5F2-9E60-3B4B-9CEC-3F35E775537E}">
  <we:reference id="wa200006038" version="1.0.0.3" store="en-US" storeType="OMEX"/>
  <we:alternateReferences>
    <we:reference id="WA200006038" version="1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6631</TotalTime>
  <Words>343</Words>
  <Application>Microsoft Macintosh PowerPoint</Application>
  <PresentationFormat>On-screen Show (4:3)</PresentationFormat>
  <Paragraphs>76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Times New Roman</vt:lpstr>
      <vt:lpstr>Custom Design</vt:lpstr>
      <vt:lpstr>The Role of Monocarboxylate Transporters in Germ Cell Survival in Drosophila Testis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  Q&amp;A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Simon Brown</dc:creator>
  <cp:lastModifiedBy>Fan, Zheheng</cp:lastModifiedBy>
  <cp:revision>50</cp:revision>
  <dcterms:created xsi:type="dcterms:W3CDTF">2005-07-13T12:26:50Z</dcterms:created>
  <dcterms:modified xsi:type="dcterms:W3CDTF">2025-06-01T23:56:26Z</dcterms:modified>
</cp:coreProperties>
</file>